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5" r:id="rId3"/>
    <p:sldId id="287" r:id="rId4"/>
    <p:sldId id="276" r:id="rId5"/>
    <p:sldId id="257" r:id="rId6"/>
    <p:sldId id="260" r:id="rId7"/>
    <p:sldId id="261" r:id="rId8"/>
    <p:sldId id="258" r:id="rId9"/>
    <p:sldId id="259" r:id="rId10"/>
    <p:sldId id="278" r:id="rId11"/>
    <p:sldId id="279" r:id="rId12"/>
    <p:sldId id="262" r:id="rId13"/>
    <p:sldId id="263" r:id="rId14"/>
    <p:sldId id="264" r:id="rId15"/>
    <p:sldId id="265" r:id="rId16"/>
    <p:sldId id="266" r:id="rId17"/>
    <p:sldId id="267" r:id="rId18"/>
    <p:sldId id="283" r:id="rId19"/>
    <p:sldId id="284" r:id="rId20"/>
    <p:sldId id="268" r:id="rId21"/>
    <p:sldId id="285" r:id="rId22"/>
    <p:sldId id="282" r:id="rId23"/>
    <p:sldId id="273" r:id="rId24"/>
    <p:sldId id="280" r:id="rId25"/>
    <p:sldId id="281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авел Криворучко" initials="ПК" lastIdx="1" clrIdx="0">
    <p:extLst>
      <p:ext uri="{19B8F6BF-5375-455C-9EA6-DF929625EA0E}">
        <p15:presenceInfo xmlns:p15="http://schemas.microsoft.com/office/powerpoint/2012/main" userId="fac9ae7805cebb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1T00:28:01.898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1A9A9-2245-4E97-B235-5B011A4152DA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B0E04-23A4-4D11-88F8-4705159576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687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B0E04-23A4-4D11-88F8-47051595766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94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83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17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0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17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11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13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13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39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32198-7A11-4D66-A445-B500D66C8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9C6047-BB90-4826-BF2A-9B68AB3E5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D1CCD-A4D8-4445-9DC9-548107F7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BDB2F3-DB8D-489B-B284-F47887C7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E4BE3-DC4B-48FB-B0E7-0DE5D054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15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724C9-8134-434A-B9CA-888E6213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D9166A-F38C-4136-818B-A96667ED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F3BE5-70DA-43AF-95D2-A0D36E24B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540BAD-4887-4F29-B08D-C97D70CF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D85EAB-6C24-4CA4-A577-A44C7292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41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CBF5D-CC41-42BE-AB1E-B8B77C5B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248E73-C0B0-49C2-AC5B-6E6365779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62DB2-6F88-41AD-8152-A12CC3E4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0D9B6-CF4E-4C83-9574-9AC43BD1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BF385-0959-4FAC-9F9D-315DD88F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315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AC1CC-D1FD-4F55-ABC4-E5B3B66E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9E0FB-DEC0-4A92-9038-A2E7F9F3D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A655A6-6F6C-41C1-B5A3-1320E122C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B2390D-B818-4121-B798-2D4B5A20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71A9C0-B39F-485D-B912-A7552142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64CC4E-FE1E-4A43-91A3-23AE103C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99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502C9-AC79-4F2A-A6B9-C40D0E00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A53C91-860F-49E6-91DF-E967650BC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9C034C-9DF2-4B32-903F-7730ED8F1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06C7A2-3250-4E74-8CB1-7BCC8F265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D3222D-1AE8-4303-A10A-C5E929571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4A73E3-BCE2-4C53-A607-1D5C0C18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E1C2D9-758E-426A-8854-CC92AC88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4B064B-91C9-4A51-8FEA-CC6BE83E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2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B25A7-8BE4-4B49-8E29-3C08264D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60B1A8C-ED20-42FA-80C3-FC0D3592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C3AE6E-601A-40EE-B69A-99F23E5F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9F0905-8CB3-4F44-8044-FB5E658B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3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AE0F9F-BA3B-4F2F-9897-97086223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FBCCD8-4259-4FB2-A766-BF93319F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EEA5AB-8280-4966-A891-D99683D4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49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D40E6-99E5-49E4-9D8A-8D71359D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F504E-F273-4D3F-BCEF-25BEFF86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FDE31A-298E-4DBE-843D-1C287EDFF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637C0E-61EE-43D6-B357-F048CF1C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F98CF2-7BC7-47A3-A2D0-42A80DD5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27E669-1A4E-4F98-BAB1-9CFA328F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9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183C0-A4F8-4587-9F9E-2C90796D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A7E0CF-0761-4BA6-8724-0E13D15EF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29CC20-BE68-49B4-8502-8AE7B3329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AAE05D-486C-45E6-B2E1-994B0D0E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CDF681-3490-4942-AB80-71F37F56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0E41DA-058D-465A-8439-9B9F26B4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38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EC508-976A-45B4-8D49-A6273FBF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40B0C3-3EE1-4C02-B40B-160C6B18A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FA28C8-A23B-4D40-A612-3684046B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3AA7D6-8EEB-4B2C-AD99-D29C39E4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532F84-244D-4893-A7C8-D54FED2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1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34491-C7BA-4966-855C-8EA1945E9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75DEA4-CFCC-441D-A651-72EF3920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174C91-B181-493F-BE18-6EAB4D21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FEFEBC-D519-4D5D-98A3-9DDD5377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48FF4B-DB61-48E9-ABCB-9A427C1B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13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447F8-8260-41D8-941D-D7EDE8387FA5}"/>
              </a:ext>
            </a:extLst>
          </p:cNvPr>
          <p:cNvSpPr txBox="1"/>
          <p:nvPr userDrawn="1"/>
        </p:nvSpPr>
        <p:spPr>
          <a:xfrm>
            <a:off x="11735770" y="6493986"/>
            <a:ext cx="45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C6A1667-61A3-4224-94F9-6CB4D7E5F3B0}" type="slidenum">
              <a:rPr lang="ru-RU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5CC4EE1-A880-43D8-87A1-0E0A6AC5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68" y="267913"/>
            <a:ext cx="11695001" cy="710553"/>
          </a:xfrm>
        </p:spPr>
        <p:txBody>
          <a:bodyPr>
            <a:normAutofit/>
          </a:bodyPr>
          <a:lstStyle>
            <a:lvl1pPr algn="ctr"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4615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99A5D-56AA-440C-AEE7-D4C8A63A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9CEE3D-77A6-4FE2-A9B4-93BEBC8B8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4B2632-1EFF-442B-9E99-602B743AB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46F3E-D9D4-428F-AE2E-829871699F6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4662C4-2217-49F6-8F94-90D1F9B55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070D70-06A4-4DCD-9C77-FC3F21B0C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3FCCC-E92C-44B0-8C53-CFFC5FA8FC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09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A1930-3A1B-4E9B-8095-79D2D292C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92" y="2034073"/>
            <a:ext cx="9268408" cy="2096278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организации образовательного процесса и системы поддержки пользователей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BA9C30-D223-41CD-BE38-430BB61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4" y="5217496"/>
            <a:ext cx="4376251" cy="780857"/>
          </a:xfrm>
        </p:spPr>
        <p:txBody>
          <a:bodyPr>
            <a:noAutofit/>
          </a:bodyPr>
          <a:lstStyle/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 студент группы ИС-22: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Криворучко Павел Сергеевич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9499FA-1BBF-4289-9B9D-969BCB1AAF9F}"/>
              </a:ext>
            </a:extLst>
          </p:cNvPr>
          <p:cNvSpPr/>
          <p:nvPr/>
        </p:nvSpPr>
        <p:spPr>
          <a:xfrm>
            <a:off x="0" y="99347"/>
            <a:ext cx="12291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«Заполярный государственный университет им.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Н.М.Федоровского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«Информационных систем и технологий»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86C2CE-2315-4A13-BDBE-13D2C8768581}"/>
              </a:ext>
            </a:extLst>
          </p:cNvPr>
          <p:cNvSpPr/>
          <p:nvPr/>
        </p:nvSpPr>
        <p:spPr>
          <a:xfrm>
            <a:off x="1138335" y="1600200"/>
            <a:ext cx="5318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5C8373-AFD9-46C5-88B9-532B042CC868}"/>
              </a:ext>
            </a:extLst>
          </p:cNvPr>
          <p:cNvSpPr/>
          <p:nvPr/>
        </p:nvSpPr>
        <p:spPr>
          <a:xfrm>
            <a:off x="8621486" y="5217496"/>
            <a:ext cx="33030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работы: кандидат экономических наук, доцент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Беляев Игорь Сергеевич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4E402-D6CF-4CA4-95F9-EF49525722E1}"/>
              </a:ext>
            </a:extLst>
          </p:cNvPr>
          <p:cNvSpPr txBox="1"/>
          <p:nvPr/>
        </p:nvSpPr>
        <p:spPr>
          <a:xfrm>
            <a:off x="5186068" y="6389321"/>
            <a:ext cx="190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Норильск 2026 г.</a:t>
            </a:r>
          </a:p>
        </p:txBody>
      </p:sp>
    </p:spTree>
    <p:extLst>
      <p:ext uri="{BB962C8B-B14F-4D97-AF65-F5344CB8AC3E}">
        <p14:creationId xmlns:p14="http://schemas.microsoft.com/office/powerpoint/2010/main" val="9614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Полярная матрица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6F4F15-3CCA-4CBD-AAC4-3D86E7F5D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3782"/>
            <a:ext cx="9928505" cy="50574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C21C0D-9837-4C7D-8856-6F35943B2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743" y="0"/>
            <a:ext cx="2547257" cy="25472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Актуальность разработки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C2097CD-EA1D-4513-84B5-F0953F423EAD}"/>
              </a:ext>
            </a:extLst>
          </p:cNvPr>
          <p:cNvSpPr/>
          <p:nvPr/>
        </p:nvSpPr>
        <p:spPr>
          <a:xfrm>
            <a:off x="457200" y="901960"/>
            <a:ext cx="6111551" cy="55548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Разрозненное ведение заявок, расписания, материалов и результатов усложняет сопровождение образовательного процесса.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 единый модуль, который централизует: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заявки и зачисление;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обучение и материалы;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задания, посещаемость и результаты;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поддержку пользователей.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E07746-C360-4C92-95DB-3D71DF517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45" y="1013928"/>
            <a:ext cx="5830616" cy="388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59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 и задачи проекта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Блок-схема: альтернативный процесс 7">
            <a:extLst>
              <a:ext uri="{FF2B5EF4-FFF2-40B4-BE49-F238E27FC236}">
                <a16:creationId xmlns:a16="http://schemas.microsoft.com/office/drawing/2014/main" id="{FA0A8E46-06B5-4710-A566-0DDA9F6B9E6F}"/>
              </a:ext>
            </a:extLst>
          </p:cNvPr>
          <p:cNvSpPr/>
          <p:nvPr/>
        </p:nvSpPr>
        <p:spPr>
          <a:xfrm>
            <a:off x="457200" y="1472184"/>
            <a:ext cx="11212286" cy="153849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модуль организации образовательного процесса и системы поддержки пользователей для платформы «Полярная Матрица»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/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2BE77828-7075-49EF-9FA2-8ECECF75D262}"/>
              </a:ext>
            </a:extLst>
          </p:cNvPr>
          <p:cNvSpPr/>
          <p:nvPr/>
        </p:nvSpPr>
        <p:spPr>
          <a:xfrm>
            <a:off x="457200" y="3428999"/>
            <a:ext cx="11212286" cy="301534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описать AS-IS модель текущей организации образовательного процесса;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спроектировать TO-BE модель с единой базой данных модуля;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описать доменную и физическую модели данных;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реализовать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REST/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-контрактов;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интерфейсы для ученика, преподавателя, завуча и администратора;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проверить основные сценарии работы модуля тестированием и оценить эффект по трудоёмкости.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Патентный поиск и анализ аналогов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8FBA7830-0A4D-4FF6-B491-E2A2CAB39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608597"/>
              </p:ext>
            </p:extLst>
          </p:nvPr>
        </p:nvGraphicFramePr>
        <p:xfrm>
          <a:off x="502920" y="758889"/>
          <a:ext cx="11155680" cy="569905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3239343588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308989506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328609548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182088662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47666393"/>
                    </a:ext>
                  </a:extLst>
                </a:gridCol>
              </a:tblGrid>
              <a:tr h="869171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Полярная Матрица: модуль «Образование»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АИС «Навигатор»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Дневник.ру</a:t>
                      </a:r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624942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Каталог программ ДПО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99771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Подача заявки на обучение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303112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Собеседование как этап процесса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44429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Расписание занятий группы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176546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Материалы и задания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474095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Сдача и проверка работ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621965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 о прохождении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637127"/>
                  </a:ext>
                </a:extLst>
              </a:tr>
              <a:tr h="6037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ИИ-ассистента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6683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AS-IS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661C91-3FD6-4FD0-90C1-723A05A32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06" y="789992"/>
            <a:ext cx="11395788" cy="6068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5803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AS-IS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1CDF61-CBA8-4F28-9A0A-E650261A0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91" y="1189826"/>
            <a:ext cx="11341017" cy="5375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AS-IS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F869DE-73A2-4638-8377-5CC118F15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74" y="676657"/>
            <a:ext cx="11598052" cy="5888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94435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AS-IS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2A713-81D5-46A8-B3CA-11D1627A9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5" y="821094"/>
            <a:ext cx="11768669" cy="57442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TO-BE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FB23DF-DE82-4C3B-B0C1-046DF72CB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63" y="777551"/>
            <a:ext cx="11482873" cy="608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0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97172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IDEF0 TO-BE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8D6079-8E02-4D78-83AE-D12A00A5C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3" y="900832"/>
            <a:ext cx="11781453" cy="56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75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TO-BE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D3217D-F0FD-434E-93CA-F1BA4D44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8" y="982824"/>
            <a:ext cx="12060983" cy="54584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898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Системный анализ 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DFD TO-BE</a:t>
            </a: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– декомпозиция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5696E6-D206-4524-90D1-590D5967B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757858"/>
            <a:ext cx="11689080" cy="58075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3B2A0C-BC95-4D20-BD07-E06CEC7A4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416767"/>
            <a:ext cx="10319657" cy="644123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CE93F24-A1C3-41D1-9809-0E8C71B84CC4}"/>
              </a:ext>
            </a:extLst>
          </p:cNvPr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Логическая модель базы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7E430-DB84-4353-AFD2-74BF83684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543" y="105747"/>
            <a:ext cx="1381125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760384E-C973-4679-9D4D-4FCE326779C1}"/>
              </a:ext>
            </a:extLst>
          </p:cNvPr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Физическая модель базы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F43F70-B45D-4D88-832B-F34098EE7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3" y="676656"/>
            <a:ext cx="9936838" cy="598547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7DD434-1D8B-4DDE-A3E7-3BA690C44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128" y="99527"/>
            <a:ext cx="1381125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Стек технологий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DC0014-FA18-4882-8751-7094C994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11" y="889517"/>
            <a:ext cx="11810178" cy="5595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 и развёртывание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671E34-EB0A-439D-82E8-F862CCA54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800101"/>
            <a:ext cx="11915775" cy="57652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C7E326-8B0C-4CD7-A9BE-BED6FE872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" y="5367336"/>
            <a:ext cx="1381125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ИИ-Ассистент для пользователя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5432EA-8B38-47DF-9C50-409286F04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23" y="935711"/>
            <a:ext cx="10235553" cy="576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43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ИИ-Ассистент для преподавателя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2F7581-ACB4-4855-A26F-2CCE58947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749" y="735564"/>
            <a:ext cx="7422502" cy="612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91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3B2000-D6AD-49B3-9045-4B23F5D3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68" y="716479"/>
            <a:ext cx="3496802" cy="542504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8F190B-E0B1-493B-A12F-ABFEAF281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905" y="879497"/>
            <a:ext cx="3408189" cy="54250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38898D-95FC-49F5-BBA2-327277C7D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965" y="1075431"/>
            <a:ext cx="3639678" cy="524069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6EC67F59-3639-499A-B51D-02BB4AB37AEB}"/>
              </a:ext>
            </a:extLst>
          </p:cNvPr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 прецедентов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</a:t>
            </a:r>
            <a:r>
              <a:rPr lang="en-US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п</a:t>
            </a:r>
            <a:r>
              <a:rPr lang="ru-RU" sz="3200" b="1" dirty="0" err="1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оследовательности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7D41B5-B9A1-4128-AB16-4B974253E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168" y="889518"/>
            <a:ext cx="7995664" cy="58254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FDD81A-219B-4B43-8F82-F8C9EF8DC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257" y="198955"/>
            <a:ext cx="13811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327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0B69DE-275C-4AF0-9604-B7458F35B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090" y="5788090"/>
            <a:ext cx="1069910" cy="106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61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Экономическое обоснование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5B7DA1-D0F1-411B-A8C2-4BDF7DA6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29" y="684827"/>
            <a:ext cx="11012941" cy="61731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3200" b="1" dirty="0">
                <a:solidFill>
                  <a:srgbClr val="202A3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Заключение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Блок-схема: альтернативный процесс 5">
            <a:extLst>
              <a:ext uri="{FF2B5EF4-FFF2-40B4-BE49-F238E27FC236}">
                <a16:creationId xmlns:a16="http://schemas.microsoft.com/office/drawing/2014/main" id="{B73FC1A7-A0A5-40BB-B2B0-63F3ECD58BC7}"/>
              </a:ext>
            </a:extLst>
          </p:cNvPr>
          <p:cNvSpPr/>
          <p:nvPr/>
        </p:nvSpPr>
        <p:spPr>
          <a:xfrm>
            <a:off x="457200" y="1472184"/>
            <a:ext cx="11212286" cy="153849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Цель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достигнута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модуль организации образовательного процесса и системы поддержки пользователей для платформы «Полярная Матрица».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/>
          </a:p>
        </p:txBody>
      </p:sp>
      <p:sp>
        <p:nvSpPr>
          <p:cNvPr id="7" name="Блок-схема: альтернативный процесс 6">
            <a:extLst>
              <a:ext uri="{FF2B5EF4-FFF2-40B4-BE49-F238E27FC236}">
                <a16:creationId xmlns:a16="http://schemas.microsoft.com/office/drawing/2014/main" id="{97300AE1-0D74-44C1-B935-17739EF42307}"/>
              </a:ext>
            </a:extLst>
          </p:cNvPr>
          <p:cNvSpPr/>
          <p:nvPr/>
        </p:nvSpPr>
        <p:spPr>
          <a:xfrm>
            <a:off x="457200" y="3428999"/>
            <a:ext cx="11212286" cy="301534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выполнены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описана AS-IS модель текущей организации образовательного процесса;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спроектирована TO-BE модель с единой базой данных модуля;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описаны доменная и физическая модели данных;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реализована серверная часть на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REST/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-контрактов;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разработаны интерфейсы для ученика, преподавателя, завуча и администратора;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проведено тестирование основных сценариев работы и оценён эффект по трудоёмкости.</a:t>
            </a:r>
          </a:p>
        </p:txBody>
      </p:sp>
    </p:spTree>
    <p:extLst>
      <p:ext uri="{BB962C8B-B14F-4D97-AF65-F5344CB8AC3E}">
        <p14:creationId xmlns:p14="http://schemas.microsoft.com/office/powerpoint/2010/main" val="11005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A1930-3A1B-4E9B-8095-79D2D292C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92" y="2034073"/>
            <a:ext cx="9268408" cy="2096278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организации образовательного процесса и системы поддержки пользователей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BA9C30-D223-41CD-BE38-430BB61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4" y="5217496"/>
            <a:ext cx="4376251" cy="105267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 студент группы ИС-22:</a:t>
            </a:r>
          </a:p>
          <a:p>
            <a:pPr algn="l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Криворучко Павел Сергеевич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9499FA-1BBF-4289-9B9D-969BCB1AAF9F}"/>
              </a:ext>
            </a:extLst>
          </p:cNvPr>
          <p:cNvSpPr/>
          <p:nvPr/>
        </p:nvSpPr>
        <p:spPr>
          <a:xfrm>
            <a:off x="0" y="99347"/>
            <a:ext cx="12291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«Заполярный государственный университет им.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Н.М.Федоровского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«Информационных систем и технологий»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86C2CE-2315-4A13-BDBE-13D2C8768581}"/>
              </a:ext>
            </a:extLst>
          </p:cNvPr>
          <p:cNvSpPr/>
          <p:nvPr/>
        </p:nvSpPr>
        <p:spPr>
          <a:xfrm>
            <a:off x="1138335" y="1600200"/>
            <a:ext cx="5318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5C8373-AFD9-46C5-88B9-532B042CC868}"/>
              </a:ext>
            </a:extLst>
          </p:cNvPr>
          <p:cNvSpPr/>
          <p:nvPr/>
        </p:nvSpPr>
        <p:spPr>
          <a:xfrm>
            <a:off x="8621486" y="5217496"/>
            <a:ext cx="3303035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работы: кандидат экономических наук, доцент</a:t>
            </a:r>
          </a:p>
          <a:p>
            <a:pPr algn="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Беляев Игорь Сергеевич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4E402-D6CF-4CA4-95F9-EF49525722E1}"/>
              </a:ext>
            </a:extLst>
          </p:cNvPr>
          <p:cNvSpPr txBox="1"/>
          <p:nvPr/>
        </p:nvSpPr>
        <p:spPr>
          <a:xfrm>
            <a:off x="5186068" y="6389321"/>
            <a:ext cx="1909114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Норильск 2026 г.</a:t>
            </a:r>
          </a:p>
        </p:txBody>
      </p:sp>
    </p:spTree>
    <p:extLst>
      <p:ext uri="{BB962C8B-B14F-4D97-AF65-F5344CB8AC3E}">
        <p14:creationId xmlns:p14="http://schemas.microsoft.com/office/powerpoint/2010/main" val="41514969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538</Words>
  <Application>Microsoft Office PowerPoint</Application>
  <PresentationFormat>Широкоэкранный</PresentationFormat>
  <Paragraphs>126</Paragraphs>
  <Slides>25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Тема Office</vt:lpstr>
      <vt:lpstr>Разработка модуля организации образовательного процесса и системы поддержки пользователей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Разработка модуля организации образовательного процесса и системы поддержки пользователей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модуля организации образовательного процесса и системы поддержки пользователей</dc:title>
  <dc:creator>Павел Криворучко</dc:creator>
  <cp:lastModifiedBy>Павел Криворучко</cp:lastModifiedBy>
  <cp:revision>94</cp:revision>
  <dcterms:created xsi:type="dcterms:W3CDTF">2026-05-24T09:23:42Z</dcterms:created>
  <dcterms:modified xsi:type="dcterms:W3CDTF">2026-06-21T16:14:38Z</dcterms:modified>
</cp:coreProperties>
</file>