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6" r:id="rId2"/>
    <p:sldId id="275" r:id="rId3"/>
    <p:sldId id="276" r:id="rId4"/>
    <p:sldId id="257" r:id="rId5"/>
    <p:sldId id="260" r:id="rId6"/>
    <p:sldId id="261" r:id="rId7"/>
    <p:sldId id="258" r:id="rId8"/>
    <p:sldId id="259" r:id="rId9"/>
    <p:sldId id="278" r:id="rId10"/>
    <p:sldId id="279" r:id="rId11"/>
    <p:sldId id="262" r:id="rId12"/>
    <p:sldId id="263" r:id="rId13"/>
    <p:sldId id="264" r:id="rId14"/>
    <p:sldId id="265" r:id="rId15"/>
    <p:sldId id="266" r:id="rId16"/>
    <p:sldId id="267" r:id="rId17"/>
    <p:sldId id="283" r:id="rId18"/>
    <p:sldId id="284" r:id="rId19"/>
    <p:sldId id="268" r:id="rId20"/>
    <p:sldId id="285" r:id="rId21"/>
    <p:sldId id="282" r:id="rId22"/>
    <p:sldId id="273" r:id="rId23"/>
    <p:sldId id="280" r:id="rId24"/>
    <p:sldId id="281" r:id="rId2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Павел Криворучко" initials="ПК" lastIdx="1" clrIdx="0">
    <p:extLst>
      <p:ext uri="{19B8F6BF-5375-455C-9EA6-DF929625EA0E}">
        <p15:presenceInfo xmlns:p15="http://schemas.microsoft.com/office/powerpoint/2012/main" userId="fac9ae7805cebbc8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900" autoAdjust="0"/>
    <p:restoredTop sz="94660"/>
  </p:normalViewPr>
  <p:slideViewPr>
    <p:cSldViewPr snapToGrid="0">
      <p:cViewPr varScale="1">
        <p:scale>
          <a:sx n="80" d="100"/>
          <a:sy n="80" d="100"/>
        </p:scale>
        <p:origin x="835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commentAuthors" Target="commentAuthors.xml"/><Relationship Id="rId30" Type="http://schemas.openxmlformats.org/officeDocument/2006/relationships/theme" Target="theme/theme1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6-11T00:28:01.898" idx="1">
    <p:pos x="10" y="10"/>
    <p:text/>
    <p:extLst>
      <p:ext uri="{C676402C-5697-4E1C-873F-D02D1690AC5C}">
        <p15:threadingInfo xmlns:p15="http://schemas.microsoft.com/office/powerpoint/2012/main" timeZoneBias="-42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51A9A9-2245-4E97-B235-5B011A4152DA}" type="datetimeFigureOut">
              <a:rPr lang="ru-RU" smtClean="0"/>
              <a:t>12.06.2026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6B0E04-23A4-4D11-88F8-47051595766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36874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B0E04-23A4-4D11-88F8-470515957661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19420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3171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0069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41765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41176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51363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581316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6395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E32198-7A11-4D66-A445-B500D66C8E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D9C6047-BB90-4826-BF2A-9B68AB3E52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D0D1CCD-A4D8-4445-9DC9-548107F70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12.06.2026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ABDB2F3-DB8D-489B-B284-F47887C793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4AE4BE3-DC4B-48FB-B0E7-0DE5D0549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71524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A724C9-8134-434A-B9CA-888E62136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6D9166A-F38C-4136-818B-A96667ED13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02F3BE5-70DA-43AF-95D2-A0D36E24B3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12.06.2026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6540BAD-4887-4F29-B08D-C97D70CF7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1D85EAB-6C24-4CA4-A577-A44C72925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94144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BCBF5D-CC41-42BE-AB1E-B8B77C5B5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3248E73-C0B0-49C2-AC5B-6E63657794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5962DB2-6F88-41AD-8152-A12CC3E41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12.06.2026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D50D9B6-CF4E-4C83-9574-9AC43BD14C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5FBF385-0959-4FAC-9F9D-315DD88F7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53159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F3AC1CC-D1FD-4F55-ABC4-E5B3B66EB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299E0FB-DEC0-4A92-9038-A2E7F9F3D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A655A6-6F6C-41C1-B5A3-1320E122C1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2B2390D-B818-4121-B798-2D4B5A20B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12.06.2026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471A9C0-B39F-485D-B912-A755214277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264CC4E-FE1E-4A43-91A3-23AE103C74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49908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2502C9-AC79-4F2A-A6B9-C40D0E00E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A53C91-860F-49E6-91DF-E967650BC3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29C034C-9DF2-4B32-903F-7730ED8F14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C06C7A2-3250-4E74-8CB1-7BCC8F2655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FFD3222D-1AE8-4303-A10A-C5E9295710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504A73E3-BCE2-4C53-A607-1D5C0C18B8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12.06.2026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DE1C2D9-758E-426A-8854-CC92AC88B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E24B064B-91C9-4A51-8FEA-CC6BE83EF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6242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6B25A7-8BE4-4B49-8E29-3C08264DB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B60B1A8C-ED20-42FA-80C3-FC0D35922F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12.06.2026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BC3AE6E-601A-40EE-B69A-99F23E5F5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99F0905-8CB3-4F44-8044-FB5E658B8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02318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09AE0F9F-BA3B-4F2F-9897-97086223A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12.06.2026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F8FBCCD8-4259-4FB2-A766-BF93319F2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7EEA5AB-8280-4966-A891-D99683D47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74940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7D40E6-99E5-49E4-9D8A-8D71359D7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ADF504E-F273-4D3F-BCEF-25BEFF8667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EFDE31A-298E-4DBE-843D-1C287EDFFC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9637C0E-61EE-43D6-B357-F048CF1CEF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12.06.2026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8F98CF2-7BC7-47A3-A2D0-42A80DD5C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727E669-1A4E-4F98-BAB1-9CFA328F9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3932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3A183C0-A4F8-4587-9F9E-2C90796D1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8A7E0CF-0761-4BA6-8724-0E13D15EF9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C29CC20-BE68-49B4-8502-8AE7B33298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0AAE05D-486C-45E6-B2E1-994B0D0E2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12.06.2026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BCDF681-3490-4942-AB80-71F37F568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20E41DA-058D-465A-8439-9B9F26B46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9385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14EC508-976A-45B4-8D49-A6273FBFA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B40B0C3-3EE1-4C02-B40B-160C6B18AC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BFA28C8-A23B-4D40-A612-3684046B8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12.06.2026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13AA7D6-8EEB-4B2C-AD99-D29C39E48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8532F84-244D-4893-A7C8-D54FED2DE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35120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C7834491-C7BA-4966-855C-8EA1945E93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F75DEA4-CFCC-441D-A651-72EF3920D4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6174C91-B181-493F-BE18-6EAB4D21C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12.06.2026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EFEFEBC-D519-4D5D-98A3-9DDD5377D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148FF4B-DB61-48E9-ABCB-9A427C1B0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41364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51447F8-8260-41D8-941D-D7EDE8387FA5}"/>
              </a:ext>
            </a:extLst>
          </p:cNvPr>
          <p:cNvSpPr txBox="1"/>
          <p:nvPr userDrawn="1"/>
        </p:nvSpPr>
        <p:spPr>
          <a:xfrm>
            <a:off x="11735770" y="6493986"/>
            <a:ext cx="4562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1C6A1667-61A3-4224-94F9-6CB4D7E5F3B0}" type="slidenum">
              <a:rPr lang="ru-RU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‹#›</a:t>
            </a:fld>
            <a:endParaRPr lang="ru-R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A5CC4EE1-A880-43D8-87A1-0E0A6AC5B3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2968" y="267913"/>
            <a:ext cx="11695001" cy="710553"/>
          </a:xfrm>
        </p:spPr>
        <p:txBody>
          <a:bodyPr>
            <a:normAutofit/>
          </a:bodyPr>
          <a:lstStyle>
            <a:lvl1pPr algn="ctr">
              <a:defRPr sz="3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4461531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899A5D-56AA-440C-AEE7-D4C8A63AEE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69CEE3D-77A6-4FE2-A9B4-93BEBC8B85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C4B2632-1EFF-442B-9E99-602B743AB5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746F3E-D9D4-428F-AE2E-829871699F6C}" type="datetimeFigureOut">
              <a:rPr lang="ru-RU" smtClean="0"/>
              <a:t>12.06.2026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64662C4-2217-49F6-8F94-90D1F9B559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0070D70-06A4-4DCD-9C77-FC3F21B0CA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0409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5" Type="http://schemas.openxmlformats.org/officeDocument/2006/relationships/comments" Target="../comments/comment1.xml"/><Relationship Id="rId4" Type="http://schemas.openxmlformats.org/officeDocument/2006/relationships/image" Target="../media/image21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0BA1930-3A1B-4E9B-8095-79D2D292C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99592" y="2034073"/>
            <a:ext cx="9268408" cy="2096278"/>
          </a:xfrm>
        </p:spPr>
        <p:txBody>
          <a:bodyPr>
            <a:normAutofit/>
          </a:bodyPr>
          <a:lstStyle/>
          <a:p>
            <a:pPr algn="l"/>
            <a:r>
              <a:rPr lang="ru-RU" sz="4800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модуля организации образовательного процесса и системы поддержки пользователей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2BA9C30-D223-41CD-BE38-430BB6174B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5274" y="5217496"/>
            <a:ext cx="4376251" cy="780857"/>
          </a:xfrm>
        </p:spPr>
        <p:txBody>
          <a:bodyPr>
            <a:noAutofit/>
          </a:bodyPr>
          <a:lstStyle/>
          <a:p>
            <a:pPr algn="l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Работу выполнил студент группы ИС-22:</a:t>
            </a:r>
          </a:p>
          <a:p>
            <a:pPr algn="l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Криворучко Павел Сергеевич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99499FA-1BBF-4289-9B9D-969BCB1AAF9F}"/>
              </a:ext>
            </a:extLst>
          </p:cNvPr>
          <p:cNvSpPr/>
          <p:nvPr/>
        </p:nvSpPr>
        <p:spPr>
          <a:xfrm>
            <a:off x="0" y="99347"/>
            <a:ext cx="1229152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Министерство науки и высшего образования Российской Федерации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Федеральное государственное бюджетное образовательное учреждение высшего образования</a:t>
            </a:r>
          </a:p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«Заполярный государственный университет им.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Н.М.Федоровского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</a:t>
            </a:r>
          </a:p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Кафедра информационных систем и технологий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3386C2CE-2315-4A13-BDBE-13D2C8768581}"/>
              </a:ext>
            </a:extLst>
          </p:cNvPr>
          <p:cNvSpPr/>
          <p:nvPr/>
        </p:nvSpPr>
        <p:spPr>
          <a:xfrm>
            <a:off x="1138335" y="1600200"/>
            <a:ext cx="531844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Выпускная квалификационная работа на тему: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55C8373-AFD9-46C5-88B9-532B042CC868}"/>
              </a:ext>
            </a:extLst>
          </p:cNvPr>
          <p:cNvSpPr/>
          <p:nvPr/>
        </p:nvSpPr>
        <p:spPr>
          <a:xfrm>
            <a:off x="8621486" y="5217496"/>
            <a:ext cx="3303035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 работы: кандидат экономических наук, доцент</a:t>
            </a:r>
          </a:p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Беляев Игорь Сергеевич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24E402-D6CF-4CA4-95F9-EF49525722E1}"/>
              </a:ext>
            </a:extLst>
          </p:cNvPr>
          <p:cNvSpPr txBox="1"/>
          <p:nvPr/>
        </p:nvSpPr>
        <p:spPr>
          <a:xfrm>
            <a:off x="5186068" y="6389321"/>
            <a:ext cx="1909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Норильск 2026 г.</a:t>
            </a:r>
          </a:p>
        </p:txBody>
      </p:sp>
    </p:spTree>
    <p:extLst>
      <p:ext uri="{BB962C8B-B14F-4D97-AF65-F5344CB8AC3E}">
        <p14:creationId xmlns:p14="http://schemas.microsoft.com/office/powerpoint/2010/main" val="96142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Актуальность разработки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9C2097CD-EA1D-4513-84B5-F0953F423EAD}"/>
              </a:ext>
            </a:extLst>
          </p:cNvPr>
          <p:cNvSpPr/>
          <p:nvPr/>
        </p:nvSpPr>
        <p:spPr>
          <a:xfrm>
            <a:off x="457200" y="901960"/>
            <a:ext cx="6111551" cy="555482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Разрозненное ведение заявок, расписания, материалов и результатов усложняет сопровождение образовательного процесса.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lang="ru-RU" alt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Необходим единый модуль, который централизует: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заявки и зачисление;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обучение и материалы;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задания, посещаемость и результаты;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поддержку пользователей.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7E07746-C360-4C92-95DB-3D71DF5173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901960"/>
            <a:ext cx="5830616" cy="388961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Цель и задачи проекта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Блок-схема: альтернативный процесс 7">
            <a:extLst>
              <a:ext uri="{FF2B5EF4-FFF2-40B4-BE49-F238E27FC236}">
                <a16:creationId xmlns:a16="http://schemas.microsoft.com/office/drawing/2014/main" id="{FA0A8E46-06B5-4710-A566-0DDA9F6B9E6F}"/>
              </a:ext>
            </a:extLst>
          </p:cNvPr>
          <p:cNvSpPr/>
          <p:nvPr/>
        </p:nvSpPr>
        <p:spPr>
          <a:xfrm>
            <a:off x="457200" y="1472184"/>
            <a:ext cx="11212286" cy="1538494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Цель</a:t>
            </a:r>
            <a:endParaRPr lang="en-US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модуль организации образовательного процесса и системы поддержки пользователей для платформы «Полярная Матрица»</a:t>
            </a:r>
            <a:endParaRPr lang="en-US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ru-RU" sz="2400" dirty="0"/>
          </a:p>
        </p:txBody>
      </p:sp>
      <p:sp>
        <p:nvSpPr>
          <p:cNvPr id="9" name="Блок-схема: альтернативный процесс 8">
            <a:extLst>
              <a:ext uri="{FF2B5EF4-FFF2-40B4-BE49-F238E27FC236}">
                <a16:creationId xmlns:a16="http://schemas.microsoft.com/office/drawing/2014/main" id="{2BE77828-7075-49EF-9FA2-8ECECF75D262}"/>
              </a:ext>
            </a:extLst>
          </p:cNvPr>
          <p:cNvSpPr/>
          <p:nvPr/>
        </p:nvSpPr>
        <p:spPr>
          <a:xfrm>
            <a:off x="457200" y="3428999"/>
            <a:ext cx="11212286" cy="3015344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ru-RU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  <a:endParaRPr lang="en-US" sz="2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описать AS-IS модель текущей организации образовательного процесса;</a:t>
            </a:r>
            <a:b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спроектировать TO-BE модель с единой базой данных модуля;</a:t>
            </a:r>
            <a:b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описать доменную и физическую модели данных;</a:t>
            </a:r>
            <a:b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реализовать </a:t>
            </a:r>
            <a:r>
              <a:rPr lang="ru-RU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на </a:t>
            </a:r>
            <a:r>
              <a:rPr lang="ru-RU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</a:t>
            </a: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с использованием REST/</a:t>
            </a:r>
            <a:r>
              <a:rPr lang="ru-RU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gRPC</a:t>
            </a: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-контрактов;</a:t>
            </a:r>
            <a:b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разработать интерфейсы для ученика, преподавателя, завуча и администратора;</a:t>
            </a:r>
            <a:b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проверить основные сценарии работы модуля тестированием и оценить эффект по трудоёмкости.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Патентный поиск и анализ аналогов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Таблица 3">
            <a:extLst>
              <a:ext uri="{FF2B5EF4-FFF2-40B4-BE49-F238E27FC236}">
                <a16:creationId xmlns:a16="http://schemas.microsoft.com/office/drawing/2014/main" id="{8FBA7830-0A4D-4FF6-B491-E2A2CAB39C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1058892"/>
              </p:ext>
            </p:extLst>
          </p:nvPr>
        </p:nvGraphicFramePr>
        <p:xfrm>
          <a:off x="502920" y="758889"/>
          <a:ext cx="11155680" cy="6099106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231136">
                  <a:extLst>
                    <a:ext uri="{9D8B030D-6E8A-4147-A177-3AD203B41FA5}">
                      <a16:colId xmlns:a16="http://schemas.microsoft.com/office/drawing/2014/main" val="3239343588"/>
                    </a:ext>
                  </a:extLst>
                </a:gridCol>
                <a:gridCol w="2231136">
                  <a:extLst>
                    <a:ext uri="{9D8B030D-6E8A-4147-A177-3AD203B41FA5}">
                      <a16:colId xmlns:a16="http://schemas.microsoft.com/office/drawing/2014/main" val="3089895064"/>
                    </a:ext>
                  </a:extLst>
                </a:gridCol>
                <a:gridCol w="2231136">
                  <a:extLst>
                    <a:ext uri="{9D8B030D-6E8A-4147-A177-3AD203B41FA5}">
                      <a16:colId xmlns:a16="http://schemas.microsoft.com/office/drawing/2014/main" val="3286095482"/>
                    </a:ext>
                  </a:extLst>
                </a:gridCol>
                <a:gridCol w="2231136">
                  <a:extLst>
                    <a:ext uri="{9D8B030D-6E8A-4147-A177-3AD203B41FA5}">
                      <a16:colId xmlns:a16="http://schemas.microsoft.com/office/drawing/2014/main" val="1820886624"/>
                    </a:ext>
                  </a:extLst>
                </a:gridCol>
                <a:gridCol w="2231136">
                  <a:extLst>
                    <a:ext uri="{9D8B030D-6E8A-4147-A177-3AD203B41FA5}">
                      <a16:colId xmlns:a16="http://schemas.microsoft.com/office/drawing/2014/main" val="247666393"/>
                    </a:ext>
                  </a:extLst>
                </a:gridCol>
              </a:tblGrid>
              <a:tr h="965942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b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Критерий / функция</a:t>
                      </a:r>
                      <a:endParaRPr lang="ru-RU" sz="16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b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Платформа «Поляная Мартица», модуль «Образование» </a:t>
                      </a:r>
                      <a:endParaRPr lang="ru-RU" sz="16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b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АИС «Навигатор»</a:t>
                      </a:r>
                      <a:endParaRPr lang="ru-RU" sz="16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b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Дневник.ру</a:t>
                      </a:r>
                      <a:endParaRPr lang="ru-RU" sz="16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Moodle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643624942"/>
                  </a:ext>
                </a:extLst>
              </a:tr>
              <a:tr h="486302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Каталог программ ДПО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67999771"/>
                  </a:ext>
                </a:extLst>
              </a:tr>
              <a:tr h="544227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Подача заявки на обучение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108303112"/>
                  </a:ext>
                </a:extLst>
              </a:tr>
              <a:tr h="276300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Статусы заявки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533744429"/>
                  </a:ext>
                </a:extLst>
              </a:tr>
              <a:tr h="544227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Собеседование как этап процесса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090176546"/>
                  </a:ext>
                </a:extLst>
              </a:tr>
              <a:tr h="544227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Расписание занятий группы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891474095"/>
                  </a:ext>
                </a:extLst>
              </a:tr>
              <a:tr h="544227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Материалы внутри платформы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058621965"/>
                  </a:ext>
                </a:extLst>
              </a:tr>
              <a:tr h="276300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Задания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791637127"/>
                  </a:ext>
                </a:extLst>
              </a:tr>
              <a:tr h="276300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Дедлайны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597668379"/>
                  </a:ext>
                </a:extLst>
              </a:tr>
              <a:tr h="276300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Сдача работ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188962755"/>
                  </a:ext>
                </a:extLst>
              </a:tr>
              <a:tr h="276300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Проверка работ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941078329"/>
                  </a:ext>
                </a:extLst>
              </a:tr>
              <a:tr h="544227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Документ о прохождении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743992714"/>
                  </a:ext>
                </a:extLst>
              </a:tr>
              <a:tr h="544227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Наличие ИИ-ассистента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9011079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Системный анализ </a:t>
            </a: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IDEF0 AS-IS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69ED5EB-C1CD-431A-8B00-74D2FDC120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928" y="828932"/>
            <a:ext cx="11870143" cy="56450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58036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Системный анализ </a:t>
            </a: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IDEF0 AS-IS</a:t>
            </a:r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 – декомпозиция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BD52452-18B5-4F7C-81A2-4261241BCC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824" y="859786"/>
            <a:ext cx="11750351" cy="561416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Системный анализ </a:t>
            </a: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DFD AS-IS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57E9420-6994-4859-B18B-A6275AE9F6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139" y="654112"/>
            <a:ext cx="11619722" cy="59112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19" y="292608"/>
            <a:ext cx="944351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Системный анализ </a:t>
            </a: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DFD AS-IS</a:t>
            </a:r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 – декомпозиция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CEE2C85-166C-49E2-9A80-DD245D6C4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21" y="1015544"/>
            <a:ext cx="11988557" cy="545840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Системный анализ </a:t>
            </a: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IDEF0 TO-BE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8075E3A-C87F-4F17-9137-2B5A6B44CA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229" y="841189"/>
            <a:ext cx="11961542" cy="57242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5805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19" y="292608"/>
            <a:ext cx="97172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Системный анализ </a:t>
            </a: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IDEF0 TO-BE</a:t>
            </a:r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 – декомпозиция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1DDA2A4-5777-4B32-869A-A4F38092F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057" y="740229"/>
            <a:ext cx="11505886" cy="6117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7756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Системный анализ </a:t>
            </a: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DFD TO-BE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31CDD7C-E3F5-4884-B323-7CE6DE804A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739" y="981250"/>
            <a:ext cx="11924522" cy="558414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898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Системный анализ </a:t>
            </a: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DFD TO-BE</a:t>
            </a:r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 – декомпозиция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768CCB8-2C3F-4084-AD8D-E573E99160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505" y="725447"/>
            <a:ext cx="11536990" cy="613255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F3B2A0C-BC95-4D20-BD07-E06CEC7A49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886" y="416767"/>
            <a:ext cx="10319657" cy="6441233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CCE93F24-A1C3-41D1-9809-0E8C71B84CC4}"/>
              </a:ext>
            </a:extLst>
          </p:cNvPr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Логическая модель базы данных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816EF46-D3E4-47D7-9774-16F7D2BA15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068" y="547396"/>
            <a:ext cx="11546011" cy="6310604"/>
          </a:xfrm>
          <a:prstGeom prst="rect">
            <a:avLst/>
          </a:prstGeom>
        </p:spPr>
      </p:pic>
      <p:sp>
        <p:nvSpPr>
          <p:cNvPr id="6" name="Text 0">
            <a:extLst>
              <a:ext uri="{FF2B5EF4-FFF2-40B4-BE49-F238E27FC236}">
                <a16:creationId xmlns:a16="http://schemas.microsoft.com/office/drawing/2014/main" id="{C760384E-C973-4679-9D4D-4FCE326779C1}"/>
              </a:ext>
            </a:extLst>
          </p:cNvPr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Физическая модель базы данных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Стек технологий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6DC0014-FA18-4882-8751-7094C994CC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911" y="889517"/>
            <a:ext cx="11810178" cy="559577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Архитектура и развёртывание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E354BA7-E56D-44D3-AAD6-B3A569CB7B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886" y="737224"/>
            <a:ext cx="10909676" cy="612077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ИИ-Ассистент для пользователя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6E95CBF3-FFFB-4632-B814-532CD87F66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928" y="826965"/>
            <a:ext cx="10716144" cy="603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1439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ИИ-Ассистент для преподавателя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FC04990-61EA-47B0-BA40-C9806E28E9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3053" y="841123"/>
            <a:ext cx="8745893" cy="6016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77912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Диаграмма прецедентов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F3B2000-D6AD-49B3-9045-4B23F5D302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03939"/>
            <a:ext cx="3408189" cy="5354061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E8F190B-E0B1-493B-A12F-ABFEAF2819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8189" y="1432958"/>
            <a:ext cx="3408189" cy="5425042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538898D-95FC-49F5-BBA2-327277C7D0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6378" y="1560622"/>
            <a:ext cx="3639678" cy="524069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 err="1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Диаграмма</a:t>
            </a: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 п</a:t>
            </a:r>
            <a:r>
              <a:rPr lang="ru-RU" sz="3200" b="1" dirty="0" err="1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оследовательности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3559ACD-D2B5-4EDC-8702-7F3E067163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857" y="740228"/>
            <a:ext cx="10450286" cy="6117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63272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29614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Экономическое обоснование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02B120CF-E42D-40BB-85B5-7A4812F7C9D7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5940490" y="1773260"/>
            <a:ext cx="2923591" cy="3311479"/>
          </a:xfrm>
          <a:prstGeom prst="rect">
            <a:avLst/>
          </a:prstGeom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2C7303C3-5FC7-406F-929D-EBDBFD403A54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8864081" y="1773260"/>
            <a:ext cx="2816212" cy="3311479"/>
          </a:xfrm>
          <a:prstGeom prst="rect">
            <a:avLst/>
          </a:prstGeom>
        </p:spPr>
      </p:pic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20A9E280-E3F8-4B63-986F-180AA6B80F49}"/>
              </a:ext>
            </a:extLst>
          </p:cNvPr>
          <p:cNvSpPr/>
          <p:nvPr/>
        </p:nvSpPr>
        <p:spPr>
          <a:xfrm>
            <a:off x="136849" y="1299087"/>
            <a:ext cx="5803641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 внедрения модуля обработка типового образовательного процесса занимала </a:t>
            </a:r>
            <a:r>
              <a:rPr lang="ru-RU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440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минут.</a:t>
            </a:r>
          </a:p>
          <a:p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После внедрения трудоёмкость сократилась до </a:t>
            </a:r>
            <a:r>
              <a:rPr lang="ru-RU" sz="2400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220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минут, то есть на </a:t>
            </a:r>
            <a:r>
              <a:rPr lang="ru-RU" sz="2400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50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%.</a:t>
            </a:r>
          </a:p>
          <a:p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Годовой экономический эффект составил </a:t>
            </a:r>
            <a:r>
              <a:rPr lang="ru-RU" sz="2400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251 575,20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руб.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Заключение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Блок-схема: альтернативный процесс 5">
            <a:extLst>
              <a:ext uri="{FF2B5EF4-FFF2-40B4-BE49-F238E27FC236}">
                <a16:creationId xmlns:a16="http://schemas.microsoft.com/office/drawing/2014/main" id="{B73FC1A7-A0A5-40BB-B2B0-63F3ECD58BC7}"/>
              </a:ext>
            </a:extLst>
          </p:cNvPr>
          <p:cNvSpPr/>
          <p:nvPr/>
        </p:nvSpPr>
        <p:spPr>
          <a:xfrm>
            <a:off x="457200" y="1472184"/>
            <a:ext cx="11212286" cy="1538494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Цель</a:t>
            </a:r>
            <a:r>
              <a:rPr lang="ru-RU" sz="2400" b="1" dirty="0">
                <a:solidFill>
                  <a:schemeClr val="bg1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 достигнута</a:t>
            </a:r>
            <a:endParaRPr lang="en-US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 модуль организации образовательного процесса и системы поддержки пользователей для платформы «Полярная Матрица».</a:t>
            </a:r>
            <a:endParaRPr lang="en-US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ru-RU" sz="2400" dirty="0"/>
          </a:p>
        </p:txBody>
      </p:sp>
      <p:sp>
        <p:nvSpPr>
          <p:cNvPr id="7" name="Блок-схема: альтернативный процесс 6">
            <a:extLst>
              <a:ext uri="{FF2B5EF4-FFF2-40B4-BE49-F238E27FC236}">
                <a16:creationId xmlns:a16="http://schemas.microsoft.com/office/drawing/2014/main" id="{97300AE1-0D74-44C1-B935-17739EF42307}"/>
              </a:ext>
            </a:extLst>
          </p:cNvPr>
          <p:cNvSpPr/>
          <p:nvPr/>
        </p:nvSpPr>
        <p:spPr>
          <a:xfrm>
            <a:off x="457200" y="3428999"/>
            <a:ext cx="11212286" cy="3015344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ru-RU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Задачи выполнены</a:t>
            </a:r>
            <a:endParaRPr lang="en-US" sz="2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описана AS-IS модель текущей организации образовательного процесса;</a:t>
            </a:r>
            <a:b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спроектирована TO-BE модель с единой базой данных модуля;</a:t>
            </a:r>
            <a:b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описаны доменная и физическая модели данных;</a:t>
            </a:r>
            <a:b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реализована серверная часть на </a:t>
            </a:r>
            <a:r>
              <a:rPr lang="ru-RU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</a:t>
            </a: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с использованием REST/</a:t>
            </a:r>
            <a:r>
              <a:rPr lang="ru-RU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gRPC</a:t>
            </a: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-контрактов;</a:t>
            </a:r>
            <a:b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разработаны интерфейсы для ученика, преподавателя, завуча и администратора;</a:t>
            </a:r>
            <a:b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проведено тестирование основных сценариев работы и оценён эффект по трудоёмкости.</a:t>
            </a:r>
          </a:p>
        </p:txBody>
      </p:sp>
    </p:spTree>
    <p:extLst>
      <p:ext uri="{BB962C8B-B14F-4D97-AF65-F5344CB8AC3E}">
        <p14:creationId xmlns:p14="http://schemas.microsoft.com/office/powerpoint/2010/main" val="110051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0BA1930-3A1B-4E9B-8095-79D2D292C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99592" y="2034073"/>
            <a:ext cx="9268408" cy="2096278"/>
          </a:xfrm>
        </p:spPr>
        <p:txBody>
          <a:bodyPr>
            <a:normAutofit/>
          </a:bodyPr>
          <a:lstStyle/>
          <a:p>
            <a:pPr algn="l"/>
            <a:r>
              <a:rPr lang="ru-RU" sz="4800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модуля организации образовательного процесса и системы поддержки пользователей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2BA9C30-D223-41CD-BE38-430BB6174B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5274" y="5217496"/>
            <a:ext cx="4376251" cy="105267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Работу выполнил студент группы ИС-22:</a:t>
            </a:r>
          </a:p>
          <a:p>
            <a:pPr algn="l">
              <a:lnSpc>
                <a:spcPct val="150000"/>
              </a:lnSpc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Криворучко Павел Сергеевич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99499FA-1BBF-4289-9B9D-969BCB1AAF9F}"/>
              </a:ext>
            </a:extLst>
          </p:cNvPr>
          <p:cNvSpPr/>
          <p:nvPr/>
        </p:nvSpPr>
        <p:spPr>
          <a:xfrm>
            <a:off x="0" y="99347"/>
            <a:ext cx="1229152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Министерство науки и высшего образования Российской Федерации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Федеральное государственное бюджетное образовательное учреждение высшего образования</a:t>
            </a:r>
          </a:p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«Заполярный государственный университет им.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Н.М.Федоровского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</a:t>
            </a:r>
          </a:p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Кафедра информационных систем и технологий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3386C2CE-2315-4A13-BDBE-13D2C8768581}"/>
              </a:ext>
            </a:extLst>
          </p:cNvPr>
          <p:cNvSpPr/>
          <p:nvPr/>
        </p:nvSpPr>
        <p:spPr>
          <a:xfrm>
            <a:off x="1138335" y="1600200"/>
            <a:ext cx="531844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Выпускная квалификационная работа на тему: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55C8373-AFD9-46C5-88B9-532B042CC868}"/>
              </a:ext>
            </a:extLst>
          </p:cNvPr>
          <p:cNvSpPr/>
          <p:nvPr/>
        </p:nvSpPr>
        <p:spPr>
          <a:xfrm>
            <a:off x="8621486" y="5217496"/>
            <a:ext cx="3303035" cy="12890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 работы: кандидат экономических наук, доцент</a:t>
            </a:r>
          </a:p>
          <a:p>
            <a:pPr algn="r">
              <a:lnSpc>
                <a:spcPct val="1500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Беляев Игорь Сергеевич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24E402-D6CF-4CA4-95F9-EF49525722E1}"/>
              </a:ext>
            </a:extLst>
          </p:cNvPr>
          <p:cNvSpPr txBox="1"/>
          <p:nvPr/>
        </p:nvSpPr>
        <p:spPr>
          <a:xfrm>
            <a:off x="5186068" y="6389321"/>
            <a:ext cx="1909114" cy="4580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Норильск 2026 г.</a:t>
            </a:r>
          </a:p>
        </p:txBody>
      </p:sp>
    </p:spTree>
    <p:extLst>
      <p:ext uri="{BB962C8B-B14F-4D97-AF65-F5344CB8AC3E}">
        <p14:creationId xmlns:p14="http://schemas.microsoft.com/office/powerpoint/2010/main" val="415149692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2592</TotalTime>
  <Words>587</Words>
  <Application>Microsoft Office PowerPoint</Application>
  <PresentationFormat>Широкоэкранный</PresentationFormat>
  <Paragraphs>149</Paragraphs>
  <Slides>24</Slides>
  <Notes>23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24</vt:i4>
      </vt:variant>
    </vt:vector>
  </HeadingPairs>
  <TitlesOfParts>
    <vt:vector size="29" baseType="lpstr">
      <vt:lpstr>Arial</vt:lpstr>
      <vt:lpstr>Calibri</vt:lpstr>
      <vt:lpstr>Calibri Light</vt:lpstr>
      <vt:lpstr>Times New Roman</vt:lpstr>
      <vt:lpstr>Тема Office</vt:lpstr>
      <vt:lpstr>Разработка модуля организации образовательного процесса и системы поддержки пользователей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Разработка модуля организации образовательного процесса и системы поддержки пользователей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модуля организации образовательного процесса и системы поддержки пользователей</dc:title>
  <dc:creator>Павел Криворучко</dc:creator>
  <cp:lastModifiedBy>Павел Криворучко</cp:lastModifiedBy>
  <cp:revision>71</cp:revision>
  <dcterms:created xsi:type="dcterms:W3CDTF">2026-05-24T09:23:42Z</dcterms:created>
  <dcterms:modified xsi:type="dcterms:W3CDTF">2026-06-12T09:07:05Z</dcterms:modified>
</cp:coreProperties>
</file>