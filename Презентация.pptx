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5" r:id="rId3"/>
    <p:sldId id="276" r:id="rId4"/>
    <p:sldId id="257" r:id="rId5"/>
    <p:sldId id="260" r:id="rId6"/>
    <p:sldId id="261" r:id="rId7"/>
    <p:sldId id="258" r:id="rId8"/>
    <p:sldId id="259" r:id="rId9"/>
    <p:sldId id="278" r:id="rId10"/>
    <p:sldId id="279" r:id="rId11"/>
    <p:sldId id="262" r:id="rId12"/>
    <p:sldId id="263" r:id="rId13"/>
    <p:sldId id="264" r:id="rId14"/>
    <p:sldId id="265" r:id="rId15"/>
    <p:sldId id="266" r:id="rId16"/>
    <p:sldId id="267" r:id="rId17"/>
    <p:sldId id="283" r:id="rId18"/>
    <p:sldId id="284" r:id="rId19"/>
    <p:sldId id="268" r:id="rId20"/>
    <p:sldId id="285" r:id="rId21"/>
    <p:sldId id="282" r:id="rId22"/>
    <p:sldId id="273" r:id="rId23"/>
    <p:sldId id="280" r:id="rId24"/>
    <p:sldId id="281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авел Криворучко" initials="ПК" lastIdx="1" clrIdx="0">
    <p:extLst>
      <p:ext uri="{19B8F6BF-5375-455C-9EA6-DF929625EA0E}">
        <p15:presenceInfo xmlns:p15="http://schemas.microsoft.com/office/powerpoint/2012/main" userId="fac9ae7805cebbc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0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52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1T00:28:01.898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1A9A9-2245-4E97-B235-5B011A4152D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B0E04-23A4-4D11-88F8-4705159576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687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B0E04-23A4-4D11-88F8-47051595766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942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17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06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17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117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136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131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39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32198-7A11-4D66-A445-B500D66C8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9C6047-BB90-4826-BF2A-9B68AB3E5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0D1CCD-A4D8-4445-9DC9-548107F7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BDB2F3-DB8D-489B-B284-F47887C79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AE4BE3-DC4B-48FB-B0E7-0DE5D054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152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724C9-8134-434A-B9CA-888E6213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D9166A-F38C-4136-818B-A96667ED1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2F3BE5-70DA-43AF-95D2-A0D36E24B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540BAD-4887-4F29-B08D-C97D70CF7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D85EAB-6C24-4CA4-A577-A44C7292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414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CBF5D-CC41-42BE-AB1E-B8B77C5B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248E73-C0B0-49C2-AC5B-6E6365779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962DB2-6F88-41AD-8152-A12CC3E41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50D9B6-CF4E-4C83-9574-9AC43BD1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FBF385-0959-4FAC-9F9D-315DD88F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315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AC1CC-D1FD-4F55-ABC4-E5B3B66E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99E0FB-DEC0-4A92-9038-A2E7F9F3D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A655A6-6F6C-41C1-B5A3-1320E122C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B2390D-B818-4121-B798-2D4B5A20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71A9C0-B39F-485D-B912-A75521427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64CC4E-FE1E-4A43-91A3-23AE103C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99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2502C9-AC79-4F2A-A6B9-C40D0E00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A53C91-860F-49E6-91DF-E967650BC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9C034C-9DF2-4B32-903F-7730ED8F1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06C7A2-3250-4E74-8CB1-7BCC8F265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FD3222D-1AE8-4303-A10A-C5E929571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4A73E3-BCE2-4C53-A607-1D5C0C18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DE1C2D9-758E-426A-8854-CC92AC88B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4B064B-91C9-4A51-8FEA-CC6BE83EF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24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B25A7-8BE4-4B49-8E29-3C08264D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60B1A8C-ED20-42FA-80C3-FC0D3592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C3AE6E-601A-40EE-B69A-99F23E5F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99F0905-8CB3-4F44-8044-FB5E658B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231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9AE0F9F-BA3B-4F2F-9897-97086223A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FBCCD8-4259-4FB2-A766-BF93319F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EEA5AB-8280-4966-A891-D99683D4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49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7D40E6-99E5-49E4-9D8A-8D71359D7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DF504E-F273-4D3F-BCEF-25BEFF866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FDE31A-298E-4DBE-843D-1C287EDFF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637C0E-61EE-43D6-B357-F048CF1CE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F98CF2-7BC7-47A3-A2D0-42A80DD5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27E669-1A4E-4F98-BAB1-9CFA328F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9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A183C0-A4F8-4587-9F9E-2C90796D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8A7E0CF-0761-4BA6-8724-0E13D15EF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29CC20-BE68-49B4-8502-8AE7B3329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AAE05D-486C-45E6-B2E1-994B0D0E2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CDF681-3490-4942-AB80-71F37F56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0E41DA-058D-465A-8439-9B9F26B4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385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4EC508-976A-45B4-8D49-A6273FBF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40B0C3-3EE1-4C02-B40B-160C6B18A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FA28C8-A23B-4D40-A612-3684046B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3AA7D6-8EEB-4B2C-AD99-D29C39E48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532F84-244D-4893-A7C8-D54FED2D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512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834491-C7BA-4966-855C-8EA1945E93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75DEA4-CFCC-441D-A651-72EF3920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174C91-B181-493F-BE18-6EAB4D21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FEFEBC-D519-4D5D-98A3-9DDD5377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48FF4B-DB61-48E9-ABCB-9A427C1B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136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1447F8-8260-41D8-941D-D7EDE8387FA5}"/>
              </a:ext>
            </a:extLst>
          </p:cNvPr>
          <p:cNvSpPr txBox="1"/>
          <p:nvPr userDrawn="1"/>
        </p:nvSpPr>
        <p:spPr>
          <a:xfrm>
            <a:off x="11735770" y="6493986"/>
            <a:ext cx="45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6A1667-61A3-4224-94F9-6CB4D7E5F3B0}" type="slidenum">
              <a:rPr lang="ru-RU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5CC4EE1-A880-43D8-87A1-0E0A6AC5B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68" y="267913"/>
            <a:ext cx="11695001" cy="710553"/>
          </a:xfrm>
        </p:spPr>
        <p:txBody>
          <a:bodyPr>
            <a:normAutofit/>
          </a:bodyPr>
          <a:lstStyle>
            <a:lvl1pPr algn="ctr"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4615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899A5D-56AA-440C-AEE7-D4C8A63A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9CEE3D-77A6-4FE2-A9B4-93BEBC8B8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4B2632-1EFF-442B-9E99-602B743AB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46F3E-D9D4-428F-AE2E-829871699F6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4662C4-2217-49F6-8F94-90D1F9B55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070D70-06A4-4DCD-9C77-FC3F21B0C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09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comments" Target="../comments/commen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A1930-3A1B-4E9B-8095-79D2D292C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9592" y="2034073"/>
            <a:ext cx="9268408" cy="2096278"/>
          </a:xfrm>
        </p:spPr>
        <p:txBody>
          <a:bodyPr>
            <a:normAutofit/>
          </a:bodyPr>
          <a:lstStyle/>
          <a:p>
            <a:pPr algn="l"/>
            <a:r>
              <a:rPr lang="ru-RU" sz="4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модуля организации образовательного процесса и системы поддержки пользователей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BA9C30-D223-41CD-BE38-430BB6174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274" y="5217496"/>
            <a:ext cx="4376251" cy="780857"/>
          </a:xfrm>
        </p:spPr>
        <p:txBody>
          <a:bodyPr>
            <a:noAutofit/>
          </a:bodyPr>
          <a:lstStyle/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 студент группы ИС-22:</a:t>
            </a: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Криворучко Павел Сергеевич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9499FA-1BBF-4289-9B9D-969BCB1AAF9F}"/>
              </a:ext>
            </a:extLst>
          </p:cNvPr>
          <p:cNvSpPr/>
          <p:nvPr/>
        </p:nvSpPr>
        <p:spPr>
          <a:xfrm>
            <a:off x="0" y="99347"/>
            <a:ext cx="12291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«Заполярный государственный университет им.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Н.М.Федоровского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информационных систем и технологий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86C2CE-2315-4A13-BDBE-13D2C8768581}"/>
              </a:ext>
            </a:extLst>
          </p:cNvPr>
          <p:cNvSpPr/>
          <p:nvPr/>
        </p:nvSpPr>
        <p:spPr>
          <a:xfrm>
            <a:off x="1138335" y="1600200"/>
            <a:ext cx="53184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на тему: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55C8373-AFD9-46C5-88B9-532B042CC868}"/>
              </a:ext>
            </a:extLst>
          </p:cNvPr>
          <p:cNvSpPr/>
          <p:nvPr/>
        </p:nvSpPr>
        <p:spPr>
          <a:xfrm>
            <a:off x="8621486" y="5217496"/>
            <a:ext cx="33030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работы: кандидат экономических наук, доцент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Беляев Игорь Сергеевич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4E402-D6CF-4CA4-95F9-EF49525722E1}"/>
              </a:ext>
            </a:extLst>
          </p:cNvPr>
          <p:cNvSpPr txBox="1"/>
          <p:nvPr/>
        </p:nvSpPr>
        <p:spPr>
          <a:xfrm>
            <a:off x="5186068" y="6389321"/>
            <a:ext cx="190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Норильск 2026</a:t>
            </a:r>
          </a:p>
        </p:txBody>
      </p:sp>
    </p:spTree>
    <p:extLst>
      <p:ext uri="{BB962C8B-B14F-4D97-AF65-F5344CB8AC3E}">
        <p14:creationId xmlns:p14="http://schemas.microsoft.com/office/powerpoint/2010/main" val="9614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Актуальность разработки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C2097CD-EA1D-4513-84B5-F0953F423EAD}"/>
              </a:ext>
            </a:extLst>
          </p:cNvPr>
          <p:cNvSpPr/>
          <p:nvPr/>
        </p:nvSpPr>
        <p:spPr>
          <a:xfrm>
            <a:off x="457200" y="901960"/>
            <a:ext cx="6111551" cy="55548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Разрозненное ведение заявок, расписания, материалов и результатов усложняет сопровождение образовательного процесса.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 единый модуль, который централизует: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заявки и зачисление;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обучение и материалы;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задания, посещаемость и результаты;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поддержку пользователей.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E07746-C360-4C92-95DB-3D71DF517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01960"/>
            <a:ext cx="5830616" cy="38896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Цель и задачи проекта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Блок-схема: альтернативный процесс 7">
            <a:extLst>
              <a:ext uri="{FF2B5EF4-FFF2-40B4-BE49-F238E27FC236}">
                <a16:creationId xmlns:a16="http://schemas.microsoft.com/office/drawing/2014/main" id="{FA0A8E46-06B5-4710-A566-0DDA9F6B9E6F}"/>
              </a:ext>
            </a:extLst>
          </p:cNvPr>
          <p:cNvSpPr/>
          <p:nvPr/>
        </p:nvSpPr>
        <p:spPr>
          <a:xfrm>
            <a:off x="457200" y="1472184"/>
            <a:ext cx="11212286" cy="153849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Цель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модуль организации образовательного процесса и системы поддержки пользователей для платформы «Полярная Матрица»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/>
          </a:p>
        </p:txBody>
      </p:sp>
      <p:sp>
        <p:nvSpPr>
          <p:cNvPr id="9" name="Блок-схема: альтернативный процесс 8">
            <a:extLst>
              <a:ext uri="{FF2B5EF4-FFF2-40B4-BE49-F238E27FC236}">
                <a16:creationId xmlns:a16="http://schemas.microsoft.com/office/drawing/2014/main" id="{2BE77828-7075-49EF-9FA2-8ECECF75D262}"/>
              </a:ext>
            </a:extLst>
          </p:cNvPr>
          <p:cNvSpPr/>
          <p:nvPr/>
        </p:nvSpPr>
        <p:spPr>
          <a:xfrm>
            <a:off x="457200" y="3428999"/>
            <a:ext cx="11212286" cy="3015344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описать AS-IS модель текущей организации образовательного процесса;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спроектировать TO-BE модель с единой базой данных модуля;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описать доменную и физическую модели данных;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реализовать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REST/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-контрактов;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разработать интерфейсы для ученика, преподавателя, завуча и администратора;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проверить основные сценарии работы модуля тестированием и оценить эффект по трудоёмкости.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Патентный поиск и анализ аналогов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8FBA7830-0A4D-4FF6-B491-E2A2CAB39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058892"/>
              </p:ext>
            </p:extLst>
          </p:nvPr>
        </p:nvGraphicFramePr>
        <p:xfrm>
          <a:off x="502920" y="758889"/>
          <a:ext cx="11155680" cy="60991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3239343588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308989506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328609548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182088662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47666393"/>
                    </a:ext>
                  </a:extLst>
                </a:gridCol>
              </a:tblGrid>
              <a:tr h="96594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 / функция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Платформа «Поляная Мартица», модуль «Образование» 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АИС «Навигатор»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Дневник.ру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Moodle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43624942"/>
                  </a:ext>
                </a:extLst>
              </a:tr>
              <a:tr h="48630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Каталог программ ДПО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7999771"/>
                  </a:ext>
                </a:extLst>
              </a:tr>
              <a:tr h="54422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Подача заявки на обучение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08303112"/>
                  </a:ext>
                </a:extLst>
              </a:tr>
              <a:tr h="2763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Статусы заявки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33744429"/>
                  </a:ext>
                </a:extLst>
              </a:tr>
              <a:tr h="54422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Собеседование как этап процесса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90176546"/>
                  </a:ext>
                </a:extLst>
              </a:tr>
              <a:tr h="54422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Расписание занятий группы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91474095"/>
                  </a:ext>
                </a:extLst>
              </a:tr>
              <a:tr h="54422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Материалы внутри платформы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58621965"/>
                  </a:ext>
                </a:extLst>
              </a:tr>
              <a:tr h="2763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Задания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91637127"/>
                  </a:ext>
                </a:extLst>
              </a:tr>
              <a:tr h="2763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Дедлайны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7668379"/>
                  </a:ext>
                </a:extLst>
              </a:tr>
              <a:tr h="2763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Сдача работ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88962755"/>
                  </a:ext>
                </a:extLst>
              </a:tr>
              <a:tr h="2763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Проверка работ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41078329"/>
                  </a:ext>
                </a:extLst>
              </a:tr>
              <a:tr h="54422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 о прохождении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43992714"/>
                  </a:ext>
                </a:extLst>
              </a:tr>
              <a:tr h="54422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Наличие ИИ-ассистента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011079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IDEF0 AS-IS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9ED5EB-C1CD-431A-8B00-74D2FDC12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28" y="828932"/>
            <a:ext cx="11870143" cy="5645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5803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IDEF0 AS-IS</a:t>
            </a: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– декомпозиция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D52452-18B5-4F7C-81A2-4261241BC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4" y="859786"/>
            <a:ext cx="11750351" cy="56141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DFD AS-IS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7E9420-6994-4859-B18B-A6275AE9F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39" y="654112"/>
            <a:ext cx="11619722" cy="5911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92608"/>
            <a:ext cx="94435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DFD AS-IS</a:t>
            </a: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– декомпозиция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EE2C85-166C-49E2-9A80-DD245D6C4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1" y="1015544"/>
            <a:ext cx="11988557" cy="54584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IDEF0 TO-BE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075E3A-C87F-4F17-9137-2B5A6B44C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29" y="841189"/>
            <a:ext cx="11961542" cy="572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0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92608"/>
            <a:ext cx="97172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IDEF0 TO-BE</a:t>
            </a: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– декомпозиция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1DDA2A4-5777-4B32-869A-A4F38092F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57" y="740229"/>
            <a:ext cx="11505886" cy="611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75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DFD TO-BE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1CDD7C-E3F5-4884-B323-7CE6DE804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9" y="981250"/>
            <a:ext cx="11924522" cy="55841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DFD TO-BE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68CCB8-2C3F-4084-AD8D-E573E9916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05" y="725447"/>
            <a:ext cx="11536990" cy="61325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3B2A0C-BC95-4D20-BD07-E06CEC7A4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416767"/>
            <a:ext cx="10319657" cy="6441233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CE93F24-A1C3-41D1-9809-0E8C71B84CC4}"/>
              </a:ext>
            </a:extLst>
          </p:cNvPr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Логическая модель базы данных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16EF46-D3E4-47D7-9774-16F7D2BA1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8" y="547396"/>
            <a:ext cx="11546011" cy="631060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C760384E-C973-4679-9D4D-4FCE326779C1}"/>
              </a:ext>
            </a:extLst>
          </p:cNvPr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Физическая модель базы данных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Стек технологий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DC0014-FA18-4882-8751-7094C994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1" y="889517"/>
            <a:ext cx="11810178" cy="55957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Архитектура и развёртывание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354BA7-E56D-44D3-AAD6-B3A569CB7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737224"/>
            <a:ext cx="10909676" cy="61207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ИИ-Ассистент для пользователя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E95CBF3-FFFB-4632-B814-532CD87F6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28" y="826965"/>
            <a:ext cx="10716144" cy="603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143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ИИ-Ассистент для преподавателя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C04990-61EA-47B0-BA40-C9806E28E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053" y="841123"/>
            <a:ext cx="8745893" cy="601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791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Диаграмма прецедентов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3B2000-D6AD-49B3-9045-4B23F5D30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3939"/>
            <a:ext cx="3408189" cy="535406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8F190B-E0B1-493B-A12F-ABFEAF281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189" y="1432958"/>
            <a:ext cx="3408189" cy="54250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38898D-95FC-49F5-BBA2-327277C7D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378" y="1560622"/>
            <a:ext cx="3639678" cy="524069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Диаграмма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п</a:t>
            </a:r>
            <a:r>
              <a:rPr lang="ru-RU" sz="3200" b="1" dirty="0" err="1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оследовательности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559ACD-D2B5-4EDC-8702-7F3E06716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57" y="740228"/>
            <a:ext cx="10450286" cy="611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327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как записать видео с экрана - Google Search - Google Chrome 2026-02-25 14-11-05">
            <a:hlinkClick r:id="" action="ppaction://media"/>
            <a:extLst>
              <a:ext uri="{FF2B5EF4-FFF2-40B4-BE49-F238E27FC236}">
                <a16:creationId xmlns:a16="http://schemas.microsoft.com/office/drawing/2014/main" id="{77791C98-9924-46B4-809E-E2901803768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6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0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Экономическое обоснование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2B120CF-E42D-40BB-85B5-7A4812F7C9D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940490" y="1773260"/>
            <a:ext cx="2923591" cy="3311479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C7303C3-5FC7-406F-929D-EBDBFD403A5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864081" y="1773260"/>
            <a:ext cx="2816212" cy="3311479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0A9E280-E3F8-4B63-986F-180AA6B80F49}"/>
              </a:ext>
            </a:extLst>
          </p:cNvPr>
          <p:cNvSpPr/>
          <p:nvPr/>
        </p:nvSpPr>
        <p:spPr>
          <a:xfrm>
            <a:off x="136849" y="1299087"/>
            <a:ext cx="580364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внедрения модуля обработка типового образовательного процесса занимала 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440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минут.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внедрения трудоёмкость сократилась до </a:t>
            </a:r>
            <a:r>
              <a:rPr lang="ru-RU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220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минут, то есть на </a:t>
            </a:r>
            <a:r>
              <a:rPr lang="ru-RU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Годовой экономический эффект составил </a:t>
            </a:r>
            <a:r>
              <a:rPr lang="ru-RU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251 575,20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руб.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Заключение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Блок-схема: альтернативный процесс 5">
            <a:extLst>
              <a:ext uri="{FF2B5EF4-FFF2-40B4-BE49-F238E27FC236}">
                <a16:creationId xmlns:a16="http://schemas.microsoft.com/office/drawing/2014/main" id="{B73FC1A7-A0A5-40BB-B2B0-63F3ECD58BC7}"/>
              </a:ext>
            </a:extLst>
          </p:cNvPr>
          <p:cNvSpPr/>
          <p:nvPr/>
        </p:nvSpPr>
        <p:spPr>
          <a:xfrm>
            <a:off x="457200" y="1472184"/>
            <a:ext cx="11212286" cy="153849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Цель</a:t>
            </a: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достигнута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модуль организации образовательного процесса и системы поддержки пользователей для платформы «Полярная Матрица».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/>
          </a:p>
        </p:txBody>
      </p:sp>
      <p:sp>
        <p:nvSpPr>
          <p:cNvPr id="7" name="Блок-схема: альтернативный процесс 6">
            <a:extLst>
              <a:ext uri="{FF2B5EF4-FFF2-40B4-BE49-F238E27FC236}">
                <a16:creationId xmlns:a16="http://schemas.microsoft.com/office/drawing/2014/main" id="{97300AE1-0D74-44C1-B935-17739EF42307}"/>
              </a:ext>
            </a:extLst>
          </p:cNvPr>
          <p:cNvSpPr/>
          <p:nvPr/>
        </p:nvSpPr>
        <p:spPr>
          <a:xfrm>
            <a:off x="457200" y="3428999"/>
            <a:ext cx="11212286" cy="3015344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выполнены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описана AS-IS модель текущей организации образовательного процесса;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спроектирована TO-BE модель с единой базой данных модуля;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описаны доменная и физическая модели данных;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реализована серверная часть на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REST/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-контрактов;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разработаны интерфейсы для ученика, преподавателя, завуча и администратора;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проведено тестирование основных сценариев работы и оценён эффект по трудоёмкости.</a:t>
            </a:r>
          </a:p>
        </p:txBody>
      </p:sp>
    </p:spTree>
    <p:extLst>
      <p:ext uri="{BB962C8B-B14F-4D97-AF65-F5344CB8AC3E}">
        <p14:creationId xmlns:p14="http://schemas.microsoft.com/office/powerpoint/2010/main" val="11005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A1930-3A1B-4E9B-8095-79D2D292C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9592" y="2034073"/>
            <a:ext cx="9268408" cy="2096278"/>
          </a:xfrm>
        </p:spPr>
        <p:txBody>
          <a:bodyPr>
            <a:normAutofit/>
          </a:bodyPr>
          <a:lstStyle/>
          <a:p>
            <a:pPr algn="l"/>
            <a:r>
              <a:rPr lang="ru-RU" sz="4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модуля организации образовательного процесса и системы поддержки пользователей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BA9C30-D223-41CD-BE38-430BB6174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274" y="5217496"/>
            <a:ext cx="4376251" cy="105267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 студент группы ИС-22:</a:t>
            </a:r>
          </a:p>
          <a:p>
            <a:pPr algn="l">
              <a:lnSpc>
                <a:spcPct val="15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Криворучко Павел Сергеевич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9499FA-1BBF-4289-9B9D-969BCB1AAF9F}"/>
              </a:ext>
            </a:extLst>
          </p:cNvPr>
          <p:cNvSpPr/>
          <p:nvPr/>
        </p:nvSpPr>
        <p:spPr>
          <a:xfrm>
            <a:off x="0" y="99347"/>
            <a:ext cx="12291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«Заполярный государственный университет им.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Н.М.Федоровского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информационных систем и технологий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86C2CE-2315-4A13-BDBE-13D2C8768581}"/>
              </a:ext>
            </a:extLst>
          </p:cNvPr>
          <p:cNvSpPr/>
          <p:nvPr/>
        </p:nvSpPr>
        <p:spPr>
          <a:xfrm>
            <a:off x="1138335" y="1600200"/>
            <a:ext cx="53184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на тему: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55C8373-AFD9-46C5-88B9-532B042CC868}"/>
              </a:ext>
            </a:extLst>
          </p:cNvPr>
          <p:cNvSpPr/>
          <p:nvPr/>
        </p:nvSpPr>
        <p:spPr>
          <a:xfrm>
            <a:off x="8621486" y="5217496"/>
            <a:ext cx="3303035" cy="1289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работы: кандидат экономических наук, доцент</a:t>
            </a:r>
          </a:p>
          <a:p>
            <a:pPr algn="r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Беляев Игорь Сергеевич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4E402-D6CF-4CA4-95F9-EF49525722E1}"/>
              </a:ext>
            </a:extLst>
          </p:cNvPr>
          <p:cNvSpPr txBox="1"/>
          <p:nvPr/>
        </p:nvSpPr>
        <p:spPr>
          <a:xfrm>
            <a:off x="5186068" y="6389321"/>
            <a:ext cx="1909114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Норильск 2026</a:t>
            </a:r>
          </a:p>
        </p:txBody>
      </p:sp>
    </p:spTree>
    <p:extLst>
      <p:ext uri="{BB962C8B-B14F-4D97-AF65-F5344CB8AC3E}">
        <p14:creationId xmlns:p14="http://schemas.microsoft.com/office/powerpoint/2010/main" val="41514969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2544</TotalTime>
  <Words>581</Words>
  <Application>Microsoft Office PowerPoint</Application>
  <PresentationFormat>Широкоэкранный</PresentationFormat>
  <Paragraphs>149</Paragraphs>
  <Slides>24</Slides>
  <Notes>23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Тема Office</vt:lpstr>
      <vt:lpstr>Разработка модуля организации образовательного процесса и системы поддержки пользователей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Разработка модуля организации образовательного процесса и системы поддержки пользователей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модуля организации образовательного процесса и системы поддержки пользователей</dc:title>
  <dc:creator>Павел Криворучко</dc:creator>
  <cp:lastModifiedBy>Павел Криворучко</cp:lastModifiedBy>
  <cp:revision>65</cp:revision>
  <dcterms:created xsi:type="dcterms:W3CDTF">2026-05-24T09:23:42Z</dcterms:created>
  <dcterms:modified xsi:type="dcterms:W3CDTF">2026-06-10T21:32:33Z</dcterms:modified>
</cp:coreProperties>
</file>