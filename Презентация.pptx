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75" r:id="rId3"/>
    <p:sldId id="276" r:id="rId4"/>
    <p:sldId id="257" r:id="rId5"/>
    <p:sldId id="260" r:id="rId6"/>
    <p:sldId id="261" r:id="rId7"/>
    <p:sldId id="258" r:id="rId8"/>
    <p:sldId id="259" r:id="rId9"/>
    <p:sldId id="278" r:id="rId10"/>
    <p:sldId id="279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73" r:id="rId19"/>
    <p:sldId id="280" r:id="rId20"/>
    <p:sldId id="281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900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523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51A9A9-2245-4E97-B235-5B011A4152DA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6B0E04-23A4-4D11-88F8-47051595766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6874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Актуальность связана с тем, что образовательный процесс часто ведётся в нескольких разрозненных инструментах: таблицах, документах, мессенджерах и облачных папках. Из-за этого трудно контролировать статус заявки, состав группы, актуальные материалы, посещаемость и результаты. Поэтому в работе предложен единый модуль, который централизует данные и делает процесс прозрачным для ученика, преподавателя и завуча.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работы — не просто сделать набор экранов, а спроектировать целый модуль образовательного процесса. Сценарий начинается с каталога программ и заявки пользователя. Далее, при необходимости, проходит собеседование, затем заявка одобряется и пользователь зачисляется в группу. Только после зачисления открывается доступ к обучению, материалам, заданиям и расписанию. Для достижения цели были выполнены анализ AS-IS, проектирование TO-BE, разработка модели данных, backend-логики и пользовательских интерфейсов.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Перед проектированием был проведён патентный поиск и анализ близких решений. Рассматривались АИС «Навигатор дополнительного образования», Дневник.ру и Moodle. Каждый аналог закрывает часть процесса: каталог, журнал или LMS-обучение. Но ни одно решение в выбранном контексте не объединяет весь сценарий в одном модуле: заявку, собеседование, административное зачисление, учебные материалы, задания, проверку, посещаемость и итоговый документ. Поэтому разработка собственного модуля является обоснованной.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Чтобы показать проблему точнее, я выделил фрагмент формирования курса. Здесь вручную собираются данные о программе, условиях набора, группах и преподавателе. Дальше эти сведения должны быть заново использованы при заявках и обучении. Именно поэтому в TO-BE модели я переношу данные программы и группы в единую базу модуля.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перехожу к TO-BE модели. В ней процесс не меняется по смыслу: ученик всё так же подаёт заявку, преподаватель ведёт обучение, администратор контролирует набор. Но меняется механизм работы: центральной точкой становится модуль «Образование». Он принимает заявки, хранит слоты собеседований, управляет доступом к обучению и формирует данные для результатов.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Начинаю с AS-IS модели. Контекстная диаграмма показывает процесс в текущем виде: ученик, преподаватель и администратор участвуют в обучении, но значительная часть данных передаётся между ними вручную. Входы и выходы уже есть, но единый программный контур, который бы связывал заявку, обучение и результаты, отсутствует.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декомпозиции AS-IS видны основные этапы: формирование курса, приём анкет, собеседование, обучение и подготовка итогов. Проблема здесь не в последовательности этапов, а в способе передачи данных. Информация многократно переносится между таблицами, документами и коммуникациями, поэтому появляются дубли, задержки и риск ошибки.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Последний фрагмент TO-BE показывает сопровождение обучения. Здесь материалы, задания, работы учеников, посещаемость и результаты уже не живут отдельно. Они связаны с группой, занятием и пользователем. Важный инвариант: доступ к разделу обучения открывается только после записи участия в группе, то есть после зачисления.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3171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Последний фрагмент TO-BE показывает сопровождение обучения. Здесь материалы, задания, работы учеников, посещаемость и результаты уже не живут отдельно. Они связаны с группой, занятием и пользователем. Важный инвариант: доступ к разделу обучения открывается только после записи участия в группе, то есть после зачисления.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0069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декомпозиции TO-BE показано главное изменение: этапы связаны через модуль и его базу данных. Заявка создаётся в системе, собеседование выбирается через слот, решение фиксируется статусом, а зачисление создаёт участие пользователя в группе. Благодаря этому последующие этапы — обучение, задания, посещаемость и отчётность — используют уже проверенные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Последний фрагмент TO-BE показывает сопровождение обучения. Здесь материалы, задания, работы учеников, посещаемость и результаты уже не живут отдельно. Они связаны с группой, занятием и пользователем. Важный инвариант: доступ к разделу обучения открывается только после записи участия в группе, то есть после зачисления.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После процессных диаграмм перехожу к модели данных. Логическая модель показывает, какие сущности нужны модулю: курс, блок, группа, заявка, слот собеседования, зачисление, занятие, материал, задание, работа ученика, посещаемость и сертификат. Самая важная связь — между группой и пользователем через зачисление. Именно эта запись является основанием для доступа к обучению.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Физическая модель переводит логическую структуру в таблицы PostgreSQL. Здесь уже видны ключи, связи и технические ограничения. Например, все смены статуса заявки фиксируются в отдельной истории, а запись group_students означает не просто принадлежность пользователя к группе, а фактическое зачисление. Файлы материалов не сохраняются прямо в базе: в базе остаются метаданные и object_key, а само хранение выполняется через MinIO.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Техническая реализация построена по backend-first подходу. Основной backend разрабатывается на Go, потому что это требование ядра платформы и хороший выбор для модульной серверной архитектуры. Для хранения данных используется PostgreSQL, для файлов — MinIO в S3-совместимом режиме. Frontend разделён на пользовательскую часть на Next.js и административную часть на React SPA. Отдельно учитываются события, outbox, аудит и разграничение прав.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Архитектура разделена на ядро и модуль образования. Ядро отвечает за учётные записи, вход и глобальные роли. Модуль образования не дублирует эти функции, а хранит UserID и свои доменные данные: заявки, группы, участие, прогресс и результаты. Отдельные frontend-приложения обращаются к системе через gateway. Файлы размещаются в MinIO, а события позволяют запускать уведомления и автоматизации без жёсткой связи между компонентами.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прецедентов показывает, какие действия доступны участникам. Ученик работает с каталогом, заявкой, собеседованием и обучением. Преподаватель получает доступ только к тем группам, где он назначен, поэтому его права ограничены контекстом группы. Завуч и администратор управляют программами, группами, заявками и итоговыми документами. Такое разграничение важно для безопасности и для защиты проекта.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завершение были проверены основные сценарии: создание курса и группы, подача заявки, выбор слота, прохождение статусов, зачисление, доступ к обучению, материалы, задания, посещаемость и результаты. По сравнению AS-IS и TO-BE трудоёмкость типового процесса снижается с 440 до 220 минут. Главный эффект достигается за счёт единой базы данных, отказа от ручного переноса сведений, контроля доступа после зачисления и прозрачной истории решений. Спасибо за внимание.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завершение были проверены основные сценарии: создание курса и группы, подача заявки, выбор слота, прохождение статусов, зачисление, доступ к обучению, материалы, задания, посещаемость и результаты. По сравнению AS-IS и TO-BE трудоёмкость типового процесса снижается с 440 до 220 минут. Главный эффект достигается за счёт единой базы данных, отказа от ручного переноса сведений, контроля доступа после зачисления и прозрачной истории решений. Спасибо за внимание.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639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E32198-7A11-4D66-A445-B500D66C8E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D9C6047-BB90-4826-BF2A-9B68AB3E5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D0D1CCD-A4D8-4445-9DC9-548107F70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ABDB2F3-DB8D-489B-B284-F47887C79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4AE4BE3-DC4B-48FB-B0E7-0DE5D054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7152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A724C9-8134-434A-B9CA-888E6213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6D9166A-F38C-4136-818B-A96667ED1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02F3BE5-70DA-43AF-95D2-A0D36E24B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6540BAD-4887-4F29-B08D-C97D70CF7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D85EAB-6C24-4CA4-A577-A44C72925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9414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BCBF5D-CC41-42BE-AB1E-B8B77C5B5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3248E73-C0B0-49C2-AC5B-6E63657794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962DB2-6F88-41AD-8152-A12CC3E41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D50D9B6-CF4E-4C83-9574-9AC43BD14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5FBF385-0959-4FAC-9F9D-315DD88F7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53159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3AC1CC-D1FD-4F55-ABC4-E5B3B66EB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99E0FB-DEC0-4A92-9038-A2E7F9F3D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A655A6-6F6C-41C1-B5A3-1320E122C1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2B2390D-B818-4121-B798-2D4B5A20B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471A9C0-B39F-485D-B912-A75521427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264CC4E-FE1E-4A43-91A3-23AE103C7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4990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2502C9-AC79-4F2A-A6B9-C40D0E00E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A53C91-860F-49E6-91DF-E967650BC3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29C034C-9DF2-4B32-903F-7730ED8F1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C06C7A2-3250-4E74-8CB1-7BCC8F2655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FD3222D-1AE8-4303-A10A-C5E9295710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04A73E3-BCE2-4C53-A607-1D5C0C18B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DE1C2D9-758E-426A-8854-CC92AC88B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24B064B-91C9-4A51-8FEA-CC6BE83EF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624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6B25A7-8BE4-4B49-8E29-3C08264DB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60B1A8C-ED20-42FA-80C3-FC0D35922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BC3AE6E-601A-40EE-B69A-99F23E5F5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99F0905-8CB3-4F44-8044-FB5E658B8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02318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9AE0F9F-BA3B-4F2F-9897-97086223A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8FBCCD8-4259-4FB2-A766-BF93319F2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7EEA5AB-8280-4966-A891-D99683D47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74940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7D40E6-99E5-49E4-9D8A-8D71359D7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ADF504E-F273-4D3F-BCEF-25BEFF866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EFDE31A-298E-4DBE-843D-1C287EDFFC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9637C0E-61EE-43D6-B357-F048CF1CE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8F98CF2-7BC7-47A3-A2D0-42A80DD5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727E669-1A4E-4F98-BAB1-9CFA328F9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393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A183C0-A4F8-4587-9F9E-2C90796D1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8A7E0CF-0761-4BA6-8724-0E13D15EF9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C29CC20-BE68-49B4-8502-8AE7B33298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0AAE05D-486C-45E6-B2E1-994B0D0E2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BCDF681-3490-4942-AB80-71F37F568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20E41DA-058D-465A-8439-9B9F26B46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9385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4EC508-976A-45B4-8D49-A6273FBFA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B40B0C3-3EE1-4C02-B40B-160C6B18AC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BFA28C8-A23B-4D40-A612-3684046B8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3AA7D6-8EEB-4B2C-AD99-D29C39E48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8532F84-244D-4893-A7C8-D54FED2DE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3512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C7834491-C7BA-4966-855C-8EA1945E93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F75DEA4-CFCC-441D-A651-72EF3920D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6174C91-B181-493F-BE18-6EAB4D21C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EFEFEBC-D519-4D5D-98A3-9DDD5377D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148FF4B-DB61-48E9-ABCB-9A427C1B0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41364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1447F8-8260-41D8-941D-D7EDE8387FA5}"/>
              </a:ext>
            </a:extLst>
          </p:cNvPr>
          <p:cNvSpPr txBox="1"/>
          <p:nvPr userDrawn="1"/>
        </p:nvSpPr>
        <p:spPr>
          <a:xfrm>
            <a:off x="11735770" y="6493986"/>
            <a:ext cx="4562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1C6A1667-61A3-4224-94F9-6CB4D7E5F3B0}" type="slidenum">
              <a:rPr lang="ru-RU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‹#›</a:t>
            </a:fld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A5CC4EE1-A880-43D8-87A1-0E0A6AC5B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968" y="267913"/>
            <a:ext cx="11695001" cy="710553"/>
          </a:xfrm>
        </p:spPr>
        <p:txBody>
          <a:bodyPr>
            <a:normAutofit/>
          </a:bodyPr>
          <a:lstStyle>
            <a:lvl1pPr algn="ctr">
              <a:defRPr sz="3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46153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899A5D-56AA-440C-AEE7-D4C8A63AE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69CEE3D-77A6-4FE2-A9B4-93BEBC8B85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C4B2632-1EFF-442B-9E99-602B743AB5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746F3E-D9D4-428F-AE2E-829871699F6C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64662C4-2217-49F6-8F94-90D1F9B559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0070D70-06A4-4DCD-9C77-FC3F21B0C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409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BA1930-3A1B-4E9B-8095-79D2D292C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9592" y="2034073"/>
            <a:ext cx="9268408" cy="2096278"/>
          </a:xfrm>
        </p:spPr>
        <p:txBody>
          <a:bodyPr>
            <a:normAutofit/>
          </a:bodyPr>
          <a:lstStyle/>
          <a:p>
            <a:pPr algn="l"/>
            <a:r>
              <a:rPr lang="ru-RU" sz="48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модуля организации образовательного процесса и системы поддержки пользователей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2BA9C30-D223-41CD-BE38-430BB6174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274" y="5217496"/>
            <a:ext cx="4376251" cy="780857"/>
          </a:xfrm>
        </p:spPr>
        <p:txBody>
          <a:bodyPr>
            <a:noAutofit/>
          </a:bodyPr>
          <a:lstStyle/>
          <a:p>
            <a:pPr algn="l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Работу выполнил студент группы ИС-22:</a:t>
            </a:r>
          </a:p>
          <a:p>
            <a:pPr algn="l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Криворучко Павел Сергеевич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99499FA-1BBF-4289-9B9D-969BCB1AAF9F}"/>
              </a:ext>
            </a:extLst>
          </p:cNvPr>
          <p:cNvSpPr/>
          <p:nvPr/>
        </p:nvSpPr>
        <p:spPr>
          <a:xfrm>
            <a:off x="0" y="99347"/>
            <a:ext cx="1229152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науки и высшего образования Российской Федерации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«Заполярный государственный университет им.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Н.М.Федоровского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информационных систем и технологий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386C2CE-2315-4A13-BDBE-13D2C8768581}"/>
              </a:ext>
            </a:extLst>
          </p:cNvPr>
          <p:cNvSpPr/>
          <p:nvPr/>
        </p:nvSpPr>
        <p:spPr>
          <a:xfrm>
            <a:off x="1138335" y="1600200"/>
            <a:ext cx="53184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 на тему: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55C8373-AFD9-46C5-88B9-532B042CC868}"/>
              </a:ext>
            </a:extLst>
          </p:cNvPr>
          <p:cNvSpPr/>
          <p:nvPr/>
        </p:nvSpPr>
        <p:spPr>
          <a:xfrm>
            <a:off x="8621486" y="5217496"/>
            <a:ext cx="330303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работы: кандидат экономических наук, доцент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Беляев Игорь Сергеевич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24E402-D6CF-4CA4-95F9-EF49525722E1}"/>
              </a:ext>
            </a:extLst>
          </p:cNvPr>
          <p:cNvSpPr txBox="1"/>
          <p:nvPr/>
        </p:nvSpPr>
        <p:spPr>
          <a:xfrm>
            <a:off x="5186068" y="6389321"/>
            <a:ext cx="1909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Норильск 2026</a:t>
            </a:r>
          </a:p>
        </p:txBody>
      </p:sp>
    </p:spTree>
    <p:extLst>
      <p:ext uri="{BB962C8B-B14F-4D97-AF65-F5344CB8AC3E}">
        <p14:creationId xmlns:p14="http://schemas.microsoft.com/office/powerpoint/2010/main" val="96142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Актуальность разработки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9C2097CD-EA1D-4513-84B5-F0953F423EAD}"/>
              </a:ext>
            </a:extLst>
          </p:cNvPr>
          <p:cNvSpPr/>
          <p:nvPr/>
        </p:nvSpPr>
        <p:spPr>
          <a:xfrm>
            <a:off x="457200" y="901960"/>
            <a:ext cx="6111551" cy="55548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Разрозненное ведение заявок, расписания, материалов и результатов усложняет сопровождение образовательного процесса.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Необходим единый модуль, который централизует: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заявки и зачисление;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обучение и материалы;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задания, посещаемость и результаты;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поддержку пользователей.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7E07746-C360-4C92-95DB-3D71DF5173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901960"/>
            <a:ext cx="5830616" cy="38896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Цель и задачи проекта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Блок-схема: альтернативный процесс 7">
            <a:extLst>
              <a:ext uri="{FF2B5EF4-FFF2-40B4-BE49-F238E27FC236}">
                <a16:creationId xmlns:a16="http://schemas.microsoft.com/office/drawing/2014/main" id="{FA0A8E46-06B5-4710-A566-0DDA9F6B9E6F}"/>
              </a:ext>
            </a:extLst>
          </p:cNvPr>
          <p:cNvSpPr/>
          <p:nvPr/>
        </p:nvSpPr>
        <p:spPr>
          <a:xfrm>
            <a:off x="457200" y="1472184"/>
            <a:ext cx="11212286" cy="1538494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Цель</a:t>
            </a:r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модуль организации образовательного процесса и системы поддержки пользователей для платформы «Полярная Матрица»</a:t>
            </a:r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400" dirty="0"/>
          </a:p>
        </p:txBody>
      </p:sp>
      <p:sp>
        <p:nvSpPr>
          <p:cNvPr id="9" name="Блок-схема: альтернативный процесс 8">
            <a:extLst>
              <a:ext uri="{FF2B5EF4-FFF2-40B4-BE49-F238E27FC236}">
                <a16:creationId xmlns:a16="http://schemas.microsoft.com/office/drawing/2014/main" id="{2BE77828-7075-49EF-9FA2-8ECECF75D262}"/>
              </a:ext>
            </a:extLst>
          </p:cNvPr>
          <p:cNvSpPr/>
          <p:nvPr/>
        </p:nvSpPr>
        <p:spPr>
          <a:xfrm>
            <a:off x="457200" y="3428999"/>
            <a:ext cx="11212286" cy="3015344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ru-RU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endParaRPr lang="en-US" sz="2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описать AS-IS модель текущей организации образовательного процесса;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спроектировать TO-BE модель с единой базой данных модуля;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описать доменную и физическую модели данных;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реализовать </a:t>
            </a:r>
            <a:r>
              <a:rPr lang="ru-RU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</a:t>
            </a: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с использованием REST/</a:t>
            </a:r>
            <a:r>
              <a:rPr lang="ru-RU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gRPC</a:t>
            </a: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-контрактов;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разработать интерфейсы для ученика, преподавателя, завуча и администратора;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проверить основные сценарии работы модуля тестированием и оценить эффект по трудоёмкости.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Патентный поиск и анализ аналогов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Таблица 3">
            <a:extLst>
              <a:ext uri="{FF2B5EF4-FFF2-40B4-BE49-F238E27FC236}">
                <a16:creationId xmlns:a16="http://schemas.microsoft.com/office/drawing/2014/main" id="{8FBA7830-0A4D-4FF6-B491-E2A2CAB39C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3468554"/>
              </p:ext>
            </p:extLst>
          </p:nvPr>
        </p:nvGraphicFramePr>
        <p:xfrm>
          <a:off x="0" y="676657"/>
          <a:ext cx="11658600" cy="61813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3239343588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3089895064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3286095482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1820886624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47666393"/>
                    </a:ext>
                  </a:extLst>
                </a:gridCol>
              </a:tblGrid>
              <a:tr h="978966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Критерий / функция</a:t>
                      </a:r>
                      <a:endParaRPr lang="ru-RU" sz="16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Платформа «Поляная Мартица», модуль «Образование» </a:t>
                      </a:r>
                      <a:endParaRPr lang="ru-RU" sz="16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АИС «Навигатор»</a:t>
                      </a:r>
                      <a:endParaRPr lang="ru-RU" sz="16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Дневник.ру</a:t>
                      </a:r>
                      <a:endParaRPr lang="ru-RU" sz="16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Moodle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643624942"/>
                  </a:ext>
                </a:extLst>
              </a:tr>
              <a:tr h="492859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Каталог программ ДПО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67999771"/>
                  </a:ext>
                </a:extLst>
              </a:tr>
              <a:tr h="551565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Подача заявки на обучение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108303112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Статусы заявки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533744429"/>
                  </a:ext>
                </a:extLst>
              </a:tr>
              <a:tr h="551565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Собеседование как этап процесса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090176546"/>
                  </a:ext>
                </a:extLst>
              </a:tr>
              <a:tr h="551565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Расписание занятий группы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891474095"/>
                  </a:ext>
                </a:extLst>
              </a:tr>
              <a:tr h="551565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Материалы внутри платформы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058621965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Задания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791637127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Дедлайны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597668379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Сдача работ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188962755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Проверка работ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941078329"/>
                  </a:ext>
                </a:extLst>
              </a:tr>
              <a:tr h="551565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Документ о прохождении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743992714"/>
                  </a:ext>
                </a:extLst>
              </a:tr>
              <a:tr h="551565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Наличие ИИ-ассистента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9011079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IDEF0 AS-IS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6CB4784-CFA8-421B-8B70-20B65E020853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76657"/>
            <a:ext cx="11706808" cy="62279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IDEF0 AS-IS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5180DCA-9DB9-4956-836F-8E9C383B4617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676657"/>
            <a:ext cx="11694368" cy="62279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DFD AS-IS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1AAC5BC-7D5C-486C-8A74-D2843E0D3A4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76657"/>
            <a:ext cx="11650824" cy="62311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DFD AS-IS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48474AA-3C06-45AE-AE4D-E4C6F9F362C3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76657"/>
            <a:ext cx="11695922" cy="62248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IDEF0 TO-BE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18B80AB-26CD-4ADE-8B16-2E242D02126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76657"/>
            <a:ext cx="11700588" cy="62279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75805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IDEF0 TO-BE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948F13F-B3C5-4BB3-8EA8-4F89A74157F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76657"/>
            <a:ext cx="11713029" cy="62279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36775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DFD TO-BE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EE8F14D-8E6E-4E86-B40A-B40CFEBD16C9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76657"/>
            <a:ext cx="11675706" cy="62279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DFD TO-BE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0B49E90-BB99-485F-8173-1A9581253DC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676657"/>
            <a:ext cx="11719249" cy="62279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Логическая модель базы данных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BBA651B-F823-428D-999D-2BAFABA4E3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535" y="1289405"/>
            <a:ext cx="9707330" cy="512516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Физическая модель базы данных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Image 0" descr="/mnt/data/cropped_media/image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571" y="749100"/>
            <a:ext cx="10014857" cy="61089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Стек технологий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6DC0014-FA18-4882-8751-7094C994CC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911" y="889517"/>
            <a:ext cx="11810178" cy="559577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Архитектура и развёртывание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Image 0" descr="/mnt/data/cropped_media/image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727788"/>
            <a:ext cx="11824996" cy="613021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Диаграмма прецедентов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F3B2000-D6AD-49B3-9045-4B23F5D30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03939"/>
            <a:ext cx="3408189" cy="5354061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E8F190B-E0B1-493B-A12F-ABFEAF2819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8189" y="1432958"/>
            <a:ext cx="3408189" cy="542504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538898D-95FC-49F5-BBA2-327277C7D0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6378" y="1560622"/>
            <a:ext cx="3639678" cy="524069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Экономическое обоснование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4E32BCC-9930-439D-AF63-076475093D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5279" y="999372"/>
            <a:ext cx="2838846" cy="503942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A42E733-FB6E-4ACF-967E-0CA0C06DBF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6691" y="1066056"/>
            <a:ext cx="2734057" cy="497274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Заключение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02920" y="1246943"/>
            <a:ext cx="101955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• спроектирован модуль «Образование»;
• описаны AS-IS и TO-BE модели;
• разработана модель данных и backend-контур;
• реализованы основные интерфейсы;
• подтверждён эффект за счёт исключения ручного переноса данных.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051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BA1930-3A1B-4E9B-8095-79D2D292C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9592" y="2034073"/>
            <a:ext cx="9268408" cy="2096278"/>
          </a:xfrm>
        </p:spPr>
        <p:txBody>
          <a:bodyPr>
            <a:normAutofit/>
          </a:bodyPr>
          <a:lstStyle/>
          <a:p>
            <a:pPr algn="l"/>
            <a:r>
              <a:rPr lang="ru-RU" sz="48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модуля организации образовательного процесса и системы поддержки пользователей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2BA9C30-D223-41CD-BE38-430BB6174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274" y="5217496"/>
            <a:ext cx="4376251" cy="10526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Работу выполнил студент группы ИС-22:</a:t>
            </a:r>
          </a:p>
          <a:p>
            <a:pPr algn="l">
              <a:lnSpc>
                <a:spcPct val="150000"/>
              </a:lnSpc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Криворучко Павел Сергеевич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99499FA-1BBF-4289-9B9D-969BCB1AAF9F}"/>
              </a:ext>
            </a:extLst>
          </p:cNvPr>
          <p:cNvSpPr/>
          <p:nvPr/>
        </p:nvSpPr>
        <p:spPr>
          <a:xfrm>
            <a:off x="0" y="99347"/>
            <a:ext cx="1229152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науки и высшего образования Российской Федерации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«Заполярный государственный университет им.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Н.М.Федоровского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информационных систем и технологий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386C2CE-2315-4A13-BDBE-13D2C8768581}"/>
              </a:ext>
            </a:extLst>
          </p:cNvPr>
          <p:cNvSpPr/>
          <p:nvPr/>
        </p:nvSpPr>
        <p:spPr>
          <a:xfrm>
            <a:off x="1138335" y="1600200"/>
            <a:ext cx="53184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 на тему: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55C8373-AFD9-46C5-88B9-532B042CC868}"/>
              </a:ext>
            </a:extLst>
          </p:cNvPr>
          <p:cNvSpPr/>
          <p:nvPr/>
        </p:nvSpPr>
        <p:spPr>
          <a:xfrm>
            <a:off x="8621486" y="5217496"/>
            <a:ext cx="3303035" cy="12890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работы: кандидат экономических наук, доцент</a:t>
            </a:r>
          </a:p>
          <a:p>
            <a:pPr algn="r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Беляев Игорь Сергеевич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24E402-D6CF-4CA4-95F9-EF49525722E1}"/>
              </a:ext>
            </a:extLst>
          </p:cNvPr>
          <p:cNvSpPr txBox="1"/>
          <p:nvPr/>
        </p:nvSpPr>
        <p:spPr>
          <a:xfrm>
            <a:off x="5186068" y="6389321"/>
            <a:ext cx="1909114" cy="4580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Норильск 2026</a:t>
            </a:r>
          </a:p>
        </p:txBody>
      </p:sp>
    </p:spTree>
    <p:extLst>
      <p:ext uri="{BB962C8B-B14F-4D97-AF65-F5344CB8AC3E}">
        <p14:creationId xmlns:p14="http://schemas.microsoft.com/office/powerpoint/2010/main" val="415149692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1809</TotalTime>
  <Words>1616</Words>
  <Application>Microsoft Office PowerPoint</Application>
  <PresentationFormat>Широкоэкранный</PresentationFormat>
  <Paragraphs>151</Paragraphs>
  <Slides>20</Slides>
  <Notes>18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5" baseType="lpstr">
      <vt:lpstr>Arial</vt:lpstr>
      <vt:lpstr>Calibri</vt:lpstr>
      <vt:lpstr>Calibri Light</vt:lpstr>
      <vt:lpstr>Times New Roman</vt:lpstr>
      <vt:lpstr>Тема Office</vt:lpstr>
      <vt:lpstr>Разработка модуля организации образовательного процесса и системы поддержки пользователей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Разработка модуля организации образовательного процесса и системы поддержки пользователей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модуля организации образовательного процесса и системы поддержки пользователей</dc:title>
  <dc:creator>Павел Криворучко</dc:creator>
  <cp:lastModifiedBy>Павел Криворучко</cp:lastModifiedBy>
  <cp:revision>48</cp:revision>
  <dcterms:created xsi:type="dcterms:W3CDTF">2026-05-24T09:23:42Z</dcterms:created>
  <dcterms:modified xsi:type="dcterms:W3CDTF">2026-06-02T16:21:10Z</dcterms:modified>
</cp:coreProperties>
</file>